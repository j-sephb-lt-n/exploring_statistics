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CF95"/>
    <a:srgbClr val="C55A11"/>
    <a:srgbClr val="FF0000"/>
    <a:srgbClr val="63BE7B"/>
    <a:srgbClr val="C6EF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979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4039-F179-4206-900E-21D7349C8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B3001-5F68-464D-B1C9-86D836F02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F676F-FC4A-4427-A5F7-F6D32BD8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75071-1B7C-49D7-8301-35101DF7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14FC8-3005-4B30-8BBA-6ECDD130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9138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64F7-62F7-4ED3-818F-D3D90230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56EF6-C8DC-4B11-A3EF-3D3D82F02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542E5-C3CF-4939-84AE-83D5CCEA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D2852-4F09-4ABF-89A2-A70D63C8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682EB-7420-4F5B-AD6F-19068A8D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9324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7733-95A1-44F9-9C72-24111159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1480D-A41C-40CE-B2E3-30D60847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ACE31-2E5B-463A-84B9-E5535BCE5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F0D3-47FD-4544-8808-76D4B8D4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9117E-B2BA-4E4E-94ED-A7D987D3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964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E83A-54C8-4D51-9708-EAF05418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99C3-DD7F-4260-B92A-5AD4E21D0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6792-6C45-4FEE-955F-A8FA6E510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05532-B4B5-4F48-895F-C602CB17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ED22C-BF4B-4346-A6B7-9AF51FAC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267C-DF94-4A6F-8AC7-84A4A957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1542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E230-7EA9-4ACD-801C-281C0995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63F38-063D-48E9-8C8F-8E38DB7C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4A9A3-7829-46C0-BE98-3D8C586A1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BEDC6-B78E-47FD-A912-0486A6FBA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1AC92-D044-4155-85A3-886540558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27F01-9DF8-4708-9AAC-3616E6A6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BB423A-A84F-414C-85B4-3F9BAA5B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FFBBC-6A16-41D4-88C9-8621FD95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5276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32D4-87B3-4767-A16F-36822B972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AB171-A446-4137-9353-455AADD8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1F5D6-BCC5-4756-8890-407F24488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56372-8FF8-4A6F-9181-AC6D48AE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032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D77CB-0460-4D87-A80D-E68D303C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6D405-20E7-40DA-94EA-F5596FCF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85EF5-1E20-4694-870B-6D902D7E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8908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9BFE-0FDE-4564-8DF9-B1DC246C6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D9A0C-AF31-43D2-96E5-D82CF5E1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D9C08-B96B-49B2-9947-115CAF936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AD438-6656-4A09-AEC4-AD44531C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8E335-C953-426A-9CD2-1F66F95C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AD39F-D13A-460C-A006-9C6BDDD2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1527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9313-9240-4EBD-BAD1-DF79DBB5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AB664-2A5B-4B43-9AE7-D33A07EE6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8CDC9-219D-4B7E-837A-0CA42FEE2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DD6B4-F5FD-4C1B-8739-322C8696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7DE8-9700-4742-BD36-2F363A97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3FDE5-9213-45ED-8D9C-FCCF737E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7045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7B33-B078-4A8A-9026-209F2999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18E88-A645-4F50-AC50-CF53B08C8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FDDC2-8158-4B67-8EFE-027225DC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D020B-26A4-4D55-9E35-07857E98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265BC-5A5C-4837-A4AB-FB9E4620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6369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956410-5BED-453E-AB41-E296C822F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C830A-AC99-4E4A-B52B-5AB5B057D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F7195-DC9D-4E95-8274-AE3092FB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FEFF3-A79E-4409-BAA0-C6D77303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32D60-4F6E-4A3D-840A-A0302A60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032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1C942-6540-4263-9571-E1E7F789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9AD44-AB31-4225-AD1C-F00B8D4D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BC847-BEEA-4B32-B235-7D879693E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AABFB-290D-4AC7-B3B3-AD8113E484BD}" type="datetimeFigureOut">
              <a:rPr lang="en-ZA" smtClean="0"/>
              <a:t>16/11/2020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FB481-B6BB-4252-B3F8-2F7A45F5C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8AA59-FDF9-417A-85D1-5E53A4D9A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1712F-94CB-43D2-869D-63F083D81BB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0560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34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39.png"/><Relationship Id="rId2" Type="http://schemas.openxmlformats.org/officeDocument/2006/relationships/image" Target="../media/image1.emf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4.png"/><Relationship Id="rId35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A4CB-509B-4061-B98A-88E07F0DA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329266"/>
            <a:ext cx="10515600" cy="1325563"/>
          </a:xfrm>
        </p:spPr>
        <p:txBody>
          <a:bodyPr/>
          <a:lstStyle/>
          <a:p>
            <a:r>
              <a:rPr lang="en-US" dirty="0"/>
              <a:t>Illustration of Wide &amp; Deep Structure</a:t>
            </a:r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E2A13-31FB-4774-A3F2-109D74260FBB}"/>
              </a:ext>
            </a:extLst>
          </p:cNvPr>
          <p:cNvSpPr txBox="1"/>
          <p:nvPr/>
        </p:nvSpPr>
        <p:spPr>
          <a:xfrm>
            <a:off x="4804555" y="4468244"/>
            <a:ext cx="1185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[0.99, 0.48, -0.34]</a:t>
            </a:r>
            <a:endParaRPr lang="en-ZA" sz="1000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6FB69C-22EF-44DA-BBA6-82547E3516C8}"/>
              </a:ext>
            </a:extLst>
          </p:cNvPr>
          <p:cNvSpPr txBox="1"/>
          <p:nvPr/>
        </p:nvSpPr>
        <p:spPr>
          <a:xfrm>
            <a:off x="5224" y="6352507"/>
            <a:ext cx="16371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63BE7B"/>
                </a:solidFill>
              </a:rPr>
              <a:t>Raw input data:</a:t>
            </a:r>
            <a:endParaRPr lang="en-ZA" sz="1500" dirty="0">
              <a:solidFill>
                <a:srgbClr val="63BE7B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22FB49-DD64-4A7D-80F2-4E338979C514}"/>
              </a:ext>
            </a:extLst>
          </p:cNvPr>
          <p:cNvCxnSpPr>
            <a:cxnSpLocks/>
            <a:endCxn id="388" idx="1"/>
          </p:cNvCxnSpPr>
          <p:nvPr/>
        </p:nvCxnSpPr>
        <p:spPr>
          <a:xfrm flipV="1">
            <a:off x="3022204" y="4721836"/>
            <a:ext cx="2335001" cy="1484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7F1C3EBC-943C-4C36-9AC2-9C593812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52" y="6359878"/>
            <a:ext cx="10796954" cy="365033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64CCE2-F5EA-4771-93D0-02102FA2BB59}"/>
              </a:ext>
            </a:extLst>
          </p:cNvPr>
          <p:cNvCxnSpPr>
            <a:cxnSpLocks/>
            <a:stCxn id="385" idx="1"/>
            <a:endCxn id="393" idx="1"/>
          </p:cNvCxnSpPr>
          <p:nvPr/>
        </p:nvCxnSpPr>
        <p:spPr>
          <a:xfrm flipV="1">
            <a:off x="8105219" y="4745694"/>
            <a:ext cx="1695128" cy="1437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670C7E-2805-4188-8C83-B185648C5936}"/>
                  </a:ext>
                </a:extLst>
              </p:cNvPr>
              <p:cNvSpPr txBox="1"/>
              <p:nvPr/>
            </p:nvSpPr>
            <p:spPr>
              <a:xfrm>
                <a:off x="166490" y="3754888"/>
                <a:ext cx="5385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b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US" sz="16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𝐖𝐢𝐝𝐞</m:t>
                          </m:r>
                        </m:sub>
                      </m:sSub>
                    </m:oMath>
                  </m:oMathPara>
                </a14:m>
                <a:endParaRPr lang="en-ZA" sz="16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670C7E-2805-4188-8C83-B185648C5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0" y="3754888"/>
                <a:ext cx="538533" cy="246221"/>
              </a:xfrm>
              <a:prstGeom prst="rect">
                <a:avLst/>
              </a:prstGeom>
              <a:blipFill>
                <a:blip r:embed="rId3"/>
                <a:stretch>
                  <a:fillRect l="-7865" t="-17500" r="-2247" b="-275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045FDB4-6111-473E-8A0A-D53920F2CDA2}"/>
                  </a:ext>
                </a:extLst>
              </p:cNvPr>
              <p:cNvSpPr txBox="1"/>
              <p:nvPr/>
            </p:nvSpPr>
            <p:spPr>
              <a:xfrm>
                <a:off x="524139" y="4035238"/>
                <a:ext cx="4166178" cy="404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𝐟𝐫𝐢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𝟗𝐚𝐦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</a:rPr>
                            <m:t>𝐟𝐫𝐢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𝟗𝐚𝐦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𝐚𝐠𝐞𝐛𝐮𝐜𝐤𝐞𝐭𝟓𝟎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𝟓𝟗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𝐬𝐡𝐨𝐞𝐬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𝐚𝐠𝐞𝐛𝐮𝐜𝐤𝐞𝐭𝟓𝟎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𝐚𝐧𝐝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𝐬𝐡𝐨𝐞𝐬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𝐭𝐞𝐜𝐡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𝐥𝐚𝐬𝐭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𝟏𝟐𝐦𝐨𝐧𝐭𝐡𝐬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ZA" sz="12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045FDB4-6111-473E-8A0A-D53920F2C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9" y="4035238"/>
                <a:ext cx="4166178" cy="404534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D537DD9D-5792-471A-81D9-9EA4D4888550}"/>
              </a:ext>
            </a:extLst>
          </p:cNvPr>
          <p:cNvSpPr txBox="1"/>
          <p:nvPr/>
        </p:nvSpPr>
        <p:spPr>
          <a:xfrm>
            <a:off x="6954613" y="4466137"/>
            <a:ext cx="1252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[0.13, 0.38, -0.11]</a:t>
            </a:r>
            <a:endParaRPr lang="en-ZA" sz="1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D9FBF2C-11D5-4B9E-89C7-A453EBAD570A}"/>
              </a:ext>
            </a:extLst>
          </p:cNvPr>
          <p:cNvSpPr txBox="1"/>
          <p:nvPr/>
        </p:nvSpPr>
        <p:spPr>
          <a:xfrm>
            <a:off x="5894848" y="4468244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[0.26, -0.94, 0.31]</a:t>
            </a:r>
            <a:endParaRPr lang="en-ZA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14EB8D-F5D3-4014-A3AA-F250FEC96156}"/>
              </a:ext>
            </a:extLst>
          </p:cNvPr>
          <p:cNvSpPr txBox="1"/>
          <p:nvPr/>
        </p:nvSpPr>
        <p:spPr>
          <a:xfrm>
            <a:off x="7990857" y="4472216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[0.69, -4.20, 1.01]</a:t>
            </a:r>
            <a:endParaRPr lang="en-ZA" sz="1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D2CDFB-D382-49C0-B7A1-1C5CCFC80AFB}"/>
              </a:ext>
            </a:extLst>
          </p:cNvPr>
          <p:cNvSpPr txBox="1"/>
          <p:nvPr/>
        </p:nvSpPr>
        <p:spPr>
          <a:xfrm>
            <a:off x="9332442" y="4468244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[0.14, 0.1, 2.0]</a:t>
            </a:r>
            <a:endParaRPr lang="en-ZA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5A84D22-9A05-4D98-A0A7-BC5717317589}"/>
              </a:ext>
            </a:extLst>
          </p:cNvPr>
          <p:cNvSpPr txBox="1"/>
          <p:nvPr/>
        </p:nvSpPr>
        <p:spPr>
          <a:xfrm>
            <a:off x="10164012" y="4461991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[-2.2, 1, 0]</a:t>
            </a:r>
            <a:endParaRPr lang="en-ZA" sz="10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2A98ED-3F99-4269-9F16-41FA583BF19A}"/>
              </a:ext>
            </a:extLst>
          </p:cNvPr>
          <p:cNvSpPr/>
          <p:nvPr/>
        </p:nvSpPr>
        <p:spPr>
          <a:xfrm>
            <a:off x="101113" y="3660372"/>
            <a:ext cx="4320985" cy="87389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BA243A2-7222-44B2-98C6-9173F766713B}"/>
              </a:ext>
            </a:extLst>
          </p:cNvPr>
          <p:cNvSpPr txBox="1"/>
          <p:nvPr/>
        </p:nvSpPr>
        <p:spPr>
          <a:xfrm>
            <a:off x="785437" y="3128098"/>
            <a:ext cx="47274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GLM (Logistic Regression)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(contains curated selection of variables and interactions)</a:t>
            </a:r>
            <a:endParaRPr lang="en-ZA" sz="1200" b="1" dirty="0">
              <a:solidFill>
                <a:srgbClr val="00B050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1DD68EA-C42F-41BA-A084-3D8FB31DAE7E}"/>
              </a:ext>
            </a:extLst>
          </p:cNvPr>
          <p:cNvSpPr/>
          <p:nvPr/>
        </p:nvSpPr>
        <p:spPr>
          <a:xfrm>
            <a:off x="5851282" y="2063093"/>
            <a:ext cx="5900428" cy="2035952"/>
          </a:xfrm>
          <a:prstGeom prst="rect">
            <a:avLst/>
          </a:prstGeom>
          <a:noFill/>
          <a:ln>
            <a:solidFill>
              <a:srgbClr val="C55A1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43D5E82-A590-432E-ACCD-CBE57F1A39E3}"/>
              </a:ext>
            </a:extLst>
          </p:cNvPr>
          <p:cNvSpPr txBox="1"/>
          <p:nvPr/>
        </p:nvSpPr>
        <p:spPr>
          <a:xfrm>
            <a:off x="9566737" y="1401507"/>
            <a:ext cx="4727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Deep Neural Network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(any desired variant)</a:t>
            </a:r>
            <a:endParaRPr lang="en-ZA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DABAB1F-D06C-4FD8-A866-0A2D72FA6679}"/>
              </a:ext>
            </a:extLst>
          </p:cNvPr>
          <p:cNvSpPr/>
          <p:nvPr/>
        </p:nvSpPr>
        <p:spPr>
          <a:xfrm>
            <a:off x="6466765" y="3097605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47F2E9E-0713-4E03-B403-5C0FBEC67C44}"/>
              </a:ext>
            </a:extLst>
          </p:cNvPr>
          <p:cNvSpPr/>
          <p:nvPr/>
        </p:nvSpPr>
        <p:spPr>
          <a:xfrm>
            <a:off x="8490460" y="3113820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8435852E-F3E2-45EA-80CF-6B835B50755C}"/>
              </a:ext>
            </a:extLst>
          </p:cNvPr>
          <p:cNvSpPr/>
          <p:nvPr/>
        </p:nvSpPr>
        <p:spPr>
          <a:xfrm>
            <a:off x="10524425" y="3125545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FC0DEE73-E374-4436-B4E4-96006E6FE61A}"/>
              </a:ext>
            </a:extLst>
          </p:cNvPr>
          <p:cNvSpPr/>
          <p:nvPr/>
        </p:nvSpPr>
        <p:spPr>
          <a:xfrm>
            <a:off x="6478491" y="2287241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44B699D-CFAB-4481-84D5-2DFFF1F9B021}"/>
              </a:ext>
            </a:extLst>
          </p:cNvPr>
          <p:cNvSpPr/>
          <p:nvPr/>
        </p:nvSpPr>
        <p:spPr>
          <a:xfrm>
            <a:off x="8502186" y="2303456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D01BD3B7-1074-4632-BEF0-EE75753C7A67}"/>
              </a:ext>
            </a:extLst>
          </p:cNvPr>
          <p:cNvSpPr/>
          <p:nvPr/>
        </p:nvSpPr>
        <p:spPr>
          <a:xfrm>
            <a:off x="10536151" y="2315181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59A63ED-096C-4F80-8AFF-CACBE8ADA199}"/>
              </a:ext>
            </a:extLst>
          </p:cNvPr>
          <p:cNvCxnSpPr>
            <a:cxnSpLocks/>
            <a:stCxn id="186" idx="4"/>
            <a:endCxn id="181" idx="0"/>
          </p:cNvCxnSpPr>
          <p:nvPr/>
        </p:nvCxnSpPr>
        <p:spPr>
          <a:xfrm flipH="1">
            <a:off x="6665907" y="2615851"/>
            <a:ext cx="11726" cy="481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FF9BB850-4B1A-4C89-A90D-F9614C58AE40}"/>
              </a:ext>
            </a:extLst>
          </p:cNvPr>
          <p:cNvCxnSpPr>
            <a:cxnSpLocks/>
            <a:stCxn id="187" idx="4"/>
            <a:endCxn id="181" idx="0"/>
          </p:cNvCxnSpPr>
          <p:nvPr/>
        </p:nvCxnSpPr>
        <p:spPr>
          <a:xfrm flipH="1">
            <a:off x="6665907" y="2632066"/>
            <a:ext cx="2035421" cy="465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B6561F22-8D09-4697-8277-E00A60C78063}"/>
              </a:ext>
            </a:extLst>
          </p:cNvPr>
          <p:cNvCxnSpPr>
            <a:cxnSpLocks/>
            <a:endCxn id="181" idx="0"/>
          </p:cNvCxnSpPr>
          <p:nvPr/>
        </p:nvCxnSpPr>
        <p:spPr>
          <a:xfrm flipH="1">
            <a:off x="6665907" y="2643985"/>
            <a:ext cx="4108302" cy="453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A279DC2B-D5CA-4513-8848-6972FDEDCC2F}"/>
              </a:ext>
            </a:extLst>
          </p:cNvPr>
          <p:cNvCxnSpPr>
            <a:cxnSpLocks/>
          </p:cNvCxnSpPr>
          <p:nvPr/>
        </p:nvCxnSpPr>
        <p:spPr>
          <a:xfrm flipH="1">
            <a:off x="6662980" y="2643262"/>
            <a:ext cx="4108302" cy="453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5BAC9BF2-31D1-40AA-9215-78FB9388AF79}"/>
              </a:ext>
            </a:extLst>
          </p:cNvPr>
          <p:cNvCxnSpPr>
            <a:cxnSpLocks/>
            <a:stCxn id="182" idx="0"/>
            <a:endCxn id="186" idx="4"/>
          </p:cNvCxnSpPr>
          <p:nvPr/>
        </p:nvCxnSpPr>
        <p:spPr>
          <a:xfrm flipH="1" flipV="1">
            <a:off x="6677633" y="2615851"/>
            <a:ext cx="2011969" cy="4979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A62D785F-AF9D-4428-93D1-0C1DF4817885}"/>
              </a:ext>
            </a:extLst>
          </p:cNvPr>
          <p:cNvCxnSpPr>
            <a:cxnSpLocks/>
            <a:stCxn id="182" idx="0"/>
            <a:endCxn id="187" idx="4"/>
          </p:cNvCxnSpPr>
          <p:nvPr/>
        </p:nvCxnSpPr>
        <p:spPr>
          <a:xfrm flipV="1">
            <a:off x="8689602" y="2632066"/>
            <a:ext cx="11726" cy="481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F4523D82-B8C8-44AD-86C2-11DC00B42882}"/>
              </a:ext>
            </a:extLst>
          </p:cNvPr>
          <p:cNvCxnSpPr>
            <a:cxnSpLocks/>
            <a:stCxn id="182" idx="0"/>
            <a:endCxn id="188" idx="4"/>
          </p:cNvCxnSpPr>
          <p:nvPr/>
        </p:nvCxnSpPr>
        <p:spPr>
          <a:xfrm flipV="1">
            <a:off x="8689602" y="2643791"/>
            <a:ext cx="2045691" cy="470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20B2EB70-62B4-4C65-9E37-1C82EF26397D}"/>
              </a:ext>
            </a:extLst>
          </p:cNvPr>
          <p:cNvCxnSpPr>
            <a:cxnSpLocks/>
            <a:stCxn id="185" idx="0"/>
            <a:endCxn id="187" idx="4"/>
          </p:cNvCxnSpPr>
          <p:nvPr/>
        </p:nvCxnSpPr>
        <p:spPr>
          <a:xfrm flipH="1" flipV="1">
            <a:off x="8701328" y="2632066"/>
            <a:ext cx="2022239" cy="493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0BF77690-9F39-41AB-97A4-9829D4033A96}"/>
              </a:ext>
            </a:extLst>
          </p:cNvPr>
          <p:cNvCxnSpPr>
            <a:cxnSpLocks/>
            <a:stCxn id="185" idx="0"/>
            <a:endCxn id="188" idx="4"/>
          </p:cNvCxnSpPr>
          <p:nvPr/>
        </p:nvCxnSpPr>
        <p:spPr>
          <a:xfrm flipV="1">
            <a:off x="10723567" y="2643791"/>
            <a:ext cx="11726" cy="481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CAA7A2A0-43CC-498B-9B67-863AF8E9CD78}"/>
              </a:ext>
            </a:extLst>
          </p:cNvPr>
          <p:cNvCxnSpPr>
            <a:cxnSpLocks/>
            <a:stCxn id="185" idx="0"/>
            <a:endCxn id="186" idx="4"/>
          </p:cNvCxnSpPr>
          <p:nvPr/>
        </p:nvCxnSpPr>
        <p:spPr>
          <a:xfrm flipH="1" flipV="1">
            <a:off x="6677633" y="2615851"/>
            <a:ext cx="4045934" cy="509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85A21A0F-EB12-4CE6-A95B-CE410C1E191C}"/>
              </a:ext>
            </a:extLst>
          </p:cNvPr>
          <p:cNvCxnSpPr>
            <a:cxnSpLocks/>
            <a:stCxn id="186" idx="0"/>
          </p:cNvCxnSpPr>
          <p:nvPr/>
        </p:nvCxnSpPr>
        <p:spPr>
          <a:xfrm flipH="1" flipV="1">
            <a:off x="6168557" y="1661205"/>
            <a:ext cx="509076" cy="62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A520FB2F-54EC-4B04-86BD-CF52DCEB1581}"/>
              </a:ext>
            </a:extLst>
          </p:cNvPr>
          <p:cNvCxnSpPr>
            <a:cxnSpLocks/>
          </p:cNvCxnSpPr>
          <p:nvPr/>
        </p:nvCxnSpPr>
        <p:spPr>
          <a:xfrm flipH="1" flipV="1">
            <a:off x="6444599" y="1654829"/>
            <a:ext cx="2269209" cy="639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F88CD6F7-3122-4EA5-9447-53FDEFED4F39}"/>
              </a:ext>
            </a:extLst>
          </p:cNvPr>
          <p:cNvCxnSpPr>
            <a:cxnSpLocks/>
            <a:stCxn id="188" idx="0"/>
          </p:cNvCxnSpPr>
          <p:nvPr/>
        </p:nvCxnSpPr>
        <p:spPr>
          <a:xfrm flipH="1" flipV="1">
            <a:off x="6516833" y="1505647"/>
            <a:ext cx="4218460" cy="80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B01B810-84E3-42C3-94E0-B079016035A3}"/>
                  </a:ext>
                </a:extLst>
              </p:cNvPr>
              <p:cNvSpPr txBox="1"/>
              <p:nvPr/>
            </p:nvSpPr>
            <p:spPr>
              <a:xfrm>
                <a:off x="5932652" y="1313768"/>
                <a:ext cx="61709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𝑫𝒆𝒆𝒑</m:t>
                          </m:r>
                        </m:sub>
                      </m:sSub>
                    </m:oMath>
                  </m:oMathPara>
                </a14:m>
                <a:endParaRPr lang="en-ZA" b="1" dirty="0">
                  <a:solidFill>
                    <a:srgbClr val="C55A11"/>
                  </a:solidFill>
                </a:endParaRPr>
              </a:p>
            </p:txBody>
          </p:sp>
        </mc:Choice>
        <mc:Fallback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B01B810-84E3-42C3-94E0-B07901603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652" y="1313768"/>
                <a:ext cx="617092" cy="301878"/>
              </a:xfrm>
              <a:prstGeom prst="rect">
                <a:avLst/>
              </a:prstGeom>
              <a:blipFill>
                <a:blip r:embed="rId5"/>
                <a:stretch>
                  <a:fillRect l="-8911" t="-22449" r="-7921" b="-2857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35231C7C-9536-48A9-B436-43E1152E00AF}"/>
                  </a:ext>
                </a:extLst>
              </p:cNvPr>
              <p:cNvSpPr txBox="1"/>
              <p:nvPr/>
            </p:nvSpPr>
            <p:spPr>
              <a:xfrm>
                <a:off x="651711" y="3815677"/>
                <a:ext cx="66609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ZA" sz="12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35231C7C-9536-48A9-B436-43E1152E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11" y="3815677"/>
                <a:ext cx="666094" cy="184666"/>
              </a:xfrm>
              <a:prstGeom prst="rect">
                <a:avLst/>
              </a:prstGeom>
              <a:blipFill>
                <a:blip r:embed="rId6"/>
                <a:stretch>
                  <a:fillRect r="-917" b="-1666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723D41E-6422-4E9A-AAD3-D037BE747CC5}"/>
                  </a:ext>
                </a:extLst>
              </p:cNvPr>
              <p:cNvSpPr txBox="1"/>
              <p:nvPr/>
            </p:nvSpPr>
            <p:spPr>
              <a:xfrm>
                <a:off x="1553532" y="2155080"/>
                <a:ext cx="26273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          +             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723D41E-6422-4E9A-AAD3-D037BE747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532" y="2155080"/>
                <a:ext cx="2627322" cy="276999"/>
              </a:xfrm>
              <a:prstGeom prst="rect">
                <a:avLst/>
              </a:prstGeom>
              <a:blipFill>
                <a:blip r:embed="rId7"/>
                <a:stretch>
                  <a:fillRect l="-1856" t="-26667" r="-928" b="-3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3ADDD4A-335F-4B3E-B1BC-6B20BC2A8EA9}"/>
                  </a:ext>
                </a:extLst>
              </p:cNvPr>
              <p:cNvSpPr txBox="1"/>
              <p:nvPr/>
            </p:nvSpPr>
            <p:spPr>
              <a:xfrm>
                <a:off x="2298961" y="2172696"/>
                <a:ext cx="5385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b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US" sz="16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𝐖𝐢𝐝𝐞</m:t>
                          </m:r>
                        </m:sub>
                      </m:sSub>
                    </m:oMath>
                  </m:oMathPara>
                </a14:m>
                <a:endParaRPr lang="en-ZA" sz="16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3ADDD4A-335F-4B3E-B1BC-6B20BC2A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61" y="2172696"/>
                <a:ext cx="538533" cy="246221"/>
              </a:xfrm>
              <a:prstGeom prst="rect">
                <a:avLst/>
              </a:prstGeom>
              <a:blipFill>
                <a:blip r:embed="rId8"/>
                <a:stretch>
                  <a:fillRect l="-7955" t="-14634" r="-3409" b="-2439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2723F1BA-C739-4F84-BED9-731D4EB4A799}"/>
                  </a:ext>
                </a:extLst>
              </p:cNvPr>
              <p:cNvSpPr txBox="1"/>
              <p:nvPr/>
            </p:nvSpPr>
            <p:spPr>
              <a:xfrm>
                <a:off x="5933568" y="1313485"/>
                <a:ext cx="61709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𝑫𝒆𝒆𝒑</m:t>
                          </m:r>
                        </m:sub>
                      </m:sSub>
                    </m:oMath>
                  </m:oMathPara>
                </a14:m>
                <a:endParaRPr lang="en-ZA" b="1" dirty="0">
                  <a:solidFill>
                    <a:srgbClr val="C55A11"/>
                  </a:solidFill>
                </a:endParaRPr>
              </a:p>
            </p:txBody>
          </p:sp>
        </mc:Choice>
        <mc:Fallback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2723F1BA-C739-4F84-BED9-731D4EB4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68" y="1313485"/>
                <a:ext cx="617092" cy="301878"/>
              </a:xfrm>
              <a:prstGeom prst="rect">
                <a:avLst/>
              </a:prstGeom>
              <a:blipFill>
                <a:blip r:embed="rId9"/>
                <a:stretch>
                  <a:fillRect l="-8824" t="-20000" r="-6863" b="-260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2ECAE5D-3A8B-4BDD-920D-A8D7A95C6292}"/>
                  </a:ext>
                </a:extLst>
              </p:cNvPr>
              <p:cNvSpPr txBox="1"/>
              <p:nvPr/>
            </p:nvSpPr>
            <p:spPr>
              <a:xfrm>
                <a:off x="2981644" y="2162639"/>
                <a:ext cx="61709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𝑫𝒆𝒆𝒑</m:t>
                          </m:r>
                        </m:sub>
                      </m:sSub>
                    </m:oMath>
                  </m:oMathPara>
                </a14:m>
                <a:endParaRPr lang="en-ZA" b="1" dirty="0">
                  <a:solidFill>
                    <a:srgbClr val="C55A11"/>
                  </a:solidFill>
                </a:endParaRPr>
              </a:p>
            </p:txBody>
          </p:sp>
        </mc:Choice>
        <mc:Fallback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2ECAE5D-3A8B-4BDD-920D-A8D7A95C6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644" y="2162639"/>
                <a:ext cx="617092" cy="301878"/>
              </a:xfrm>
              <a:prstGeom prst="rect">
                <a:avLst/>
              </a:prstGeom>
              <a:blipFill>
                <a:blip r:embed="rId10"/>
                <a:stretch>
                  <a:fillRect l="-8911" t="-22449" r="-7921" b="-2857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TextBox 353">
            <a:extLst>
              <a:ext uri="{FF2B5EF4-FFF2-40B4-BE49-F238E27FC236}">
                <a16:creationId xmlns:a16="http://schemas.microsoft.com/office/drawing/2014/main" id="{26DB79C2-5C7D-4D5F-8ADC-61597CEB0152}"/>
              </a:ext>
            </a:extLst>
          </p:cNvPr>
          <p:cNvSpPr txBox="1"/>
          <p:nvPr/>
        </p:nvSpPr>
        <p:spPr>
          <a:xfrm>
            <a:off x="1363952" y="1847507"/>
            <a:ext cx="315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FINAL MODEL PREDICTION</a:t>
            </a:r>
            <a:endParaRPr lang="en-ZA" u="sng" dirty="0"/>
          </a:p>
        </p:txBody>
      </p: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C34D7A5F-A3AA-471A-9343-3D094E1B9033}"/>
              </a:ext>
            </a:extLst>
          </p:cNvPr>
          <p:cNvCxnSpPr>
            <a:cxnSpLocks/>
          </p:cNvCxnSpPr>
          <p:nvPr/>
        </p:nvCxnSpPr>
        <p:spPr>
          <a:xfrm flipV="1">
            <a:off x="2232308" y="2549630"/>
            <a:ext cx="66653" cy="6091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5E5557F8-8E91-4817-B863-4872F1C3487F}"/>
              </a:ext>
            </a:extLst>
          </p:cNvPr>
          <p:cNvCxnSpPr>
            <a:cxnSpLocks/>
          </p:cNvCxnSpPr>
          <p:nvPr/>
        </p:nvCxnSpPr>
        <p:spPr>
          <a:xfrm flipH="1">
            <a:off x="4182587" y="1513558"/>
            <a:ext cx="1712261" cy="611333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0541D36E-4DDB-43FD-852D-6835C3E15113}"/>
              </a:ext>
            </a:extLst>
          </p:cNvPr>
          <p:cNvCxnSpPr>
            <a:cxnSpLocks/>
          </p:cNvCxnSpPr>
          <p:nvPr/>
        </p:nvCxnSpPr>
        <p:spPr>
          <a:xfrm flipH="1" flipV="1">
            <a:off x="1051434" y="1758620"/>
            <a:ext cx="987315" cy="48964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2D1319AF-5CFB-4B48-8FEA-AD4267B8EA5F}"/>
              </a:ext>
            </a:extLst>
          </p:cNvPr>
          <p:cNvSpPr txBox="1"/>
          <p:nvPr/>
        </p:nvSpPr>
        <p:spPr>
          <a:xfrm>
            <a:off x="125045" y="1607649"/>
            <a:ext cx="1886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sigmoid function</a:t>
            </a:r>
            <a:endParaRPr lang="en-ZA" sz="1000" dirty="0">
              <a:solidFill>
                <a:srgbClr val="FF0000"/>
              </a:solidFill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2C5F9202-B2B8-49B6-B8EF-88E5F314C3F8}"/>
              </a:ext>
            </a:extLst>
          </p:cNvPr>
          <p:cNvSpPr txBox="1"/>
          <p:nvPr/>
        </p:nvSpPr>
        <p:spPr>
          <a:xfrm>
            <a:off x="9004953" y="4464320"/>
            <a:ext cx="400736" cy="254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[51]</a:t>
            </a:r>
            <a:endParaRPr lang="en-ZA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44DE5F70-DC81-4FE9-B017-223289E3C394}"/>
              </a:ext>
            </a:extLst>
          </p:cNvPr>
          <p:cNvSpPr txBox="1"/>
          <p:nvPr/>
        </p:nvSpPr>
        <p:spPr>
          <a:xfrm>
            <a:off x="10770085" y="4458019"/>
            <a:ext cx="5433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[0.02]</a:t>
            </a:r>
            <a:endParaRPr lang="en-ZA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6D3F1A38-61DE-491D-ADDE-10F96A047AEC}"/>
              </a:ext>
            </a:extLst>
          </p:cNvPr>
          <p:cNvSpPr txBox="1"/>
          <p:nvPr/>
        </p:nvSpPr>
        <p:spPr>
          <a:xfrm>
            <a:off x="11125675" y="4461223"/>
            <a:ext cx="432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[0.6]</a:t>
            </a:r>
            <a:endParaRPr lang="en-ZA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6AC71D5D-4A6E-4B1B-90EC-08A0E9BE0B66}"/>
              </a:ext>
            </a:extLst>
          </p:cNvPr>
          <p:cNvSpPr txBox="1"/>
          <p:nvPr/>
        </p:nvSpPr>
        <p:spPr>
          <a:xfrm>
            <a:off x="11412542" y="4461227"/>
            <a:ext cx="432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[0.1]</a:t>
            </a:r>
            <a:endParaRPr lang="en-ZA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D7402235-DBF2-4B68-A999-5A4885938435}"/>
              </a:ext>
            </a:extLst>
          </p:cNvPr>
          <p:cNvSpPr txBox="1"/>
          <p:nvPr/>
        </p:nvSpPr>
        <p:spPr>
          <a:xfrm>
            <a:off x="11695009" y="4456577"/>
            <a:ext cx="432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[0.3]</a:t>
            </a:r>
            <a:endParaRPr lang="en-ZA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1" name="Left Bracket 380">
            <a:extLst>
              <a:ext uri="{FF2B5EF4-FFF2-40B4-BE49-F238E27FC236}">
                <a16:creationId xmlns:a16="http://schemas.microsoft.com/office/drawing/2014/main" id="{9F487AEE-4613-4B41-A4DA-C864018A8052}"/>
              </a:ext>
            </a:extLst>
          </p:cNvPr>
          <p:cNvSpPr/>
          <p:nvPr/>
        </p:nvSpPr>
        <p:spPr>
          <a:xfrm rot="5400000">
            <a:off x="2937284" y="5507498"/>
            <a:ext cx="136564" cy="154651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2" name="Left Bracket 381">
            <a:extLst>
              <a:ext uri="{FF2B5EF4-FFF2-40B4-BE49-F238E27FC236}">
                <a16:creationId xmlns:a16="http://schemas.microsoft.com/office/drawing/2014/main" id="{42ECD839-149D-493E-9558-7C90E36AC0F0}"/>
              </a:ext>
            </a:extLst>
          </p:cNvPr>
          <p:cNvSpPr/>
          <p:nvPr/>
        </p:nvSpPr>
        <p:spPr>
          <a:xfrm rot="5400000">
            <a:off x="4298648" y="5773275"/>
            <a:ext cx="143433" cy="102183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3" name="Left Bracket 382">
            <a:extLst>
              <a:ext uri="{FF2B5EF4-FFF2-40B4-BE49-F238E27FC236}">
                <a16:creationId xmlns:a16="http://schemas.microsoft.com/office/drawing/2014/main" id="{60CE4BD5-EDF2-4191-9E56-D3D5CDEE56A2}"/>
              </a:ext>
            </a:extLst>
          </p:cNvPr>
          <p:cNvSpPr/>
          <p:nvPr/>
        </p:nvSpPr>
        <p:spPr>
          <a:xfrm rot="5400000">
            <a:off x="5395610" y="5769876"/>
            <a:ext cx="154421" cy="102183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4" name="Left Bracket 383">
            <a:extLst>
              <a:ext uri="{FF2B5EF4-FFF2-40B4-BE49-F238E27FC236}">
                <a16:creationId xmlns:a16="http://schemas.microsoft.com/office/drawing/2014/main" id="{1C1D8535-BB07-445C-81F5-1A170A7DD94C}"/>
              </a:ext>
            </a:extLst>
          </p:cNvPr>
          <p:cNvSpPr/>
          <p:nvPr/>
        </p:nvSpPr>
        <p:spPr>
          <a:xfrm rot="5400000">
            <a:off x="6531909" y="5760118"/>
            <a:ext cx="154421" cy="102183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5" name="Left Bracket 384">
            <a:extLst>
              <a:ext uri="{FF2B5EF4-FFF2-40B4-BE49-F238E27FC236}">
                <a16:creationId xmlns:a16="http://schemas.microsoft.com/office/drawing/2014/main" id="{3E69EE74-B5C8-4E11-BBB0-680AED44157A}"/>
              </a:ext>
            </a:extLst>
          </p:cNvPr>
          <p:cNvSpPr/>
          <p:nvPr/>
        </p:nvSpPr>
        <p:spPr>
          <a:xfrm rot="5400000">
            <a:off x="8019069" y="5717643"/>
            <a:ext cx="172300" cy="110422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8" name="Left Bracket 387">
            <a:extLst>
              <a:ext uri="{FF2B5EF4-FFF2-40B4-BE49-F238E27FC236}">
                <a16:creationId xmlns:a16="http://schemas.microsoft.com/office/drawing/2014/main" id="{E35A9F4B-A88B-4452-A1CF-34F63C489517}"/>
              </a:ext>
            </a:extLst>
          </p:cNvPr>
          <p:cNvSpPr/>
          <p:nvPr/>
        </p:nvSpPr>
        <p:spPr>
          <a:xfrm rot="16200000">
            <a:off x="5332175" y="4258242"/>
            <a:ext cx="50060" cy="87712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0" name="Left Bracket 389">
            <a:extLst>
              <a:ext uri="{FF2B5EF4-FFF2-40B4-BE49-F238E27FC236}">
                <a16:creationId xmlns:a16="http://schemas.microsoft.com/office/drawing/2014/main" id="{A07FE137-9870-4530-83CC-F35534CC70A5}"/>
              </a:ext>
            </a:extLst>
          </p:cNvPr>
          <p:cNvSpPr/>
          <p:nvPr/>
        </p:nvSpPr>
        <p:spPr>
          <a:xfrm rot="16200000">
            <a:off x="6419569" y="4273794"/>
            <a:ext cx="50060" cy="87712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1" name="Left Bracket 390">
            <a:extLst>
              <a:ext uri="{FF2B5EF4-FFF2-40B4-BE49-F238E27FC236}">
                <a16:creationId xmlns:a16="http://schemas.microsoft.com/office/drawing/2014/main" id="{D36E6A66-06A2-43CD-9773-E0C15E1C3049}"/>
              </a:ext>
            </a:extLst>
          </p:cNvPr>
          <p:cNvSpPr/>
          <p:nvPr/>
        </p:nvSpPr>
        <p:spPr>
          <a:xfrm rot="16200000">
            <a:off x="7498737" y="4272046"/>
            <a:ext cx="50060" cy="87712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2" name="Left Bracket 391">
            <a:extLst>
              <a:ext uri="{FF2B5EF4-FFF2-40B4-BE49-F238E27FC236}">
                <a16:creationId xmlns:a16="http://schemas.microsoft.com/office/drawing/2014/main" id="{C1E521F6-F04E-4B91-AFB4-0FFDF031E0FF}"/>
              </a:ext>
            </a:extLst>
          </p:cNvPr>
          <p:cNvSpPr/>
          <p:nvPr/>
        </p:nvSpPr>
        <p:spPr>
          <a:xfrm rot="16200000">
            <a:off x="8522170" y="4277377"/>
            <a:ext cx="50060" cy="87712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3" name="Left Bracket 392">
            <a:extLst>
              <a:ext uri="{FF2B5EF4-FFF2-40B4-BE49-F238E27FC236}">
                <a16:creationId xmlns:a16="http://schemas.microsoft.com/office/drawing/2014/main" id="{CBD0038D-5397-4076-8458-A5BAB8EDFD2C}"/>
              </a:ext>
            </a:extLst>
          </p:cNvPr>
          <p:cNvSpPr/>
          <p:nvPr/>
        </p:nvSpPr>
        <p:spPr>
          <a:xfrm rot="16200000">
            <a:off x="9777487" y="4359169"/>
            <a:ext cx="45719" cy="72733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4" name="Left Bracket 393">
            <a:extLst>
              <a:ext uri="{FF2B5EF4-FFF2-40B4-BE49-F238E27FC236}">
                <a16:creationId xmlns:a16="http://schemas.microsoft.com/office/drawing/2014/main" id="{67C6B498-9A1F-428F-8672-BDE6CF32A9D2}"/>
              </a:ext>
            </a:extLst>
          </p:cNvPr>
          <p:cNvSpPr/>
          <p:nvPr/>
        </p:nvSpPr>
        <p:spPr>
          <a:xfrm rot="16200000">
            <a:off x="10492717" y="4472682"/>
            <a:ext cx="45719" cy="50901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39452021-ED1E-4D08-AFFC-9D9F9B3E3F8A}"/>
              </a:ext>
            </a:extLst>
          </p:cNvPr>
          <p:cNvCxnSpPr>
            <a:cxnSpLocks/>
            <a:stCxn id="382" idx="1"/>
            <a:endCxn id="390" idx="1"/>
          </p:cNvCxnSpPr>
          <p:nvPr/>
        </p:nvCxnSpPr>
        <p:spPr>
          <a:xfrm flipV="1">
            <a:off x="4370364" y="4737388"/>
            <a:ext cx="2074235" cy="1475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9C3F8A4C-8F99-49D9-86B2-A2983DFB28BB}"/>
              </a:ext>
            </a:extLst>
          </p:cNvPr>
          <p:cNvCxnSpPr>
            <a:cxnSpLocks/>
            <a:endCxn id="391" idx="1"/>
          </p:cNvCxnSpPr>
          <p:nvPr/>
        </p:nvCxnSpPr>
        <p:spPr>
          <a:xfrm flipV="1">
            <a:off x="5489555" y="4735640"/>
            <a:ext cx="2034212" cy="1465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5A200DFA-2322-4D9F-A26E-263221834274}"/>
              </a:ext>
            </a:extLst>
          </p:cNvPr>
          <p:cNvCxnSpPr>
            <a:cxnSpLocks/>
            <a:stCxn id="384" idx="1"/>
            <a:endCxn id="392" idx="1"/>
          </p:cNvCxnSpPr>
          <p:nvPr/>
        </p:nvCxnSpPr>
        <p:spPr>
          <a:xfrm flipV="1">
            <a:off x="6609119" y="4740971"/>
            <a:ext cx="1938081" cy="1452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EEF91EB6-475C-4414-98BA-36C4128237DE}"/>
              </a:ext>
            </a:extLst>
          </p:cNvPr>
          <p:cNvCxnSpPr>
            <a:cxnSpLocks/>
            <a:endCxn id="376" idx="2"/>
          </p:cNvCxnSpPr>
          <p:nvPr/>
        </p:nvCxnSpPr>
        <p:spPr>
          <a:xfrm flipV="1">
            <a:off x="7343511" y="4718437"/>
            <a:ext cx="1861810" cy="16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9" name="Left Bracket 408">
            <a:extLst>
              <a:ext uri="{FF2B5EF4-FFF2-40B4-BE49-F238E27FC236}">
                <a16:creationId xmlns:a16="http://schemas.microsoft.com/office/drawing/2014/main" id="{0589D2F7-ECA0-4579-9064-EFE02172E98A}"/>
              </a:ext>
            </a:extLst>
          </p:cNvPr>
          <p:cNvSpPr/>
          <p:nvPr/>
        </p:nvSpPr>
        <p:spPr>
          <a:xfrm rot="5400000">
            <a:off x="9488659" y="5430051"/>
            <a:ext cx="150434" cy="162554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C6BCCC82-0808-4D96-9903-57D3FF209D0E}"/>
              </a:ext>
            </a:extLst>
          </p:cNvPr>
          <p:cNvCxnSpPr>
            <a:cxnSpLocks/>
            <a:stCxn id="409" idx="1"/>
            <a:endCxn id="394" idx="1"/>
          </p:cNvCxnSpPr>
          <p:nvPr/>
        </p:nvCxnSpPr>
        <p:spPr>
          <a:xfrm flipV="1">
            <a:off x="9563876" y="4750051"/>
            <a:ext cx="951701" cy="1417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Arrow Connector 415">
            <a:extLst>
              <a:ext uri="{FF2B5EF4-FFF2-40B4-BE49-F238E27FC236}">
                <a16:creationId xmlns:a16="http://schemas.microsoft.com/office/drawing/2014/main" id="{79A18F7E-02B5-4846-A334-693ED98FE661}"/>
              </a:ext>
            </a:extLst>
          </p:cNvPr>
          <p:cNvCxnSpPr>
            <a:cxnSpLocks/>
          </p:cNvCxnSpPr>
          <p:nvPr/>
        </p:nvCxnSpPr>
        <p:spPr>
          <a:xfrm flipV="1">
            <a:off x="7343212" y="4718436"/>
            <a:ext cx="1861810" cy="16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BCD2E15-F9FD-46E5-BF50-134BAEF0BEE8}"/>
              </a:ext>
            </a:extLst>
          </p:cNvPr>
          <p:cNvCxnSpPr>
            <a:cxnSpLocks/>
          </p:cNvCxnSpPr>
          <p:nvPr/>
        </p:nvCxnSpPr>
        <p:spPr>
          <a:xfrm flipV="1">
            <a:off x="10614658" y="4639370"/>
            <a:ext cx="389701" cy="186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9" name="Straight Arrow Connector 418">
            <a:extLst>
              <a:ext uri="{FF2B5EF4-FFF2-40B4-BE49-F238E27FC236}">
                <a16:creationId xmlns:a16="http://schemas.microsoft.com/office/drawing/2014/main" id="{E148450C-D27C-4A10-A503-5489D7CCE551}"/>
              </a:ext>
            </a:extLst>
          </p:cNvPr>
          <p:cNvCxnSpPr>
            <a:cxnSpLocks/>
          </p:cNvCxnSpPr>
          <p:nvPr/>
        </p:nvCxnSpPr>
        <p:spPr>
          <a:xfrm flipV="1">
            <a:off x="11041773" y="4630297"/>
            <a:ext cx="285128" cy="1876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CECAB5AA-C5C3-41F2-9598-4DECE7A8BF68}"/>
              </a:ext>
            </a:extLst>
          </p:cNvPr>
          <p:cNvCxnSpPr>
            <a:cxnSpLocks/>
          </p:cNvCxnSpPr>
          <p:nvPr/>
        </p:nvCxnSpPr>
        <p:spPr>
          <a:xfrm flipV="1">
            <a:off x="11483807" y="4639369"/>
            <a:ext cx="136328" cy="1867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5" name="Straight Arrow Connector 424">
            <a:extLst>
              <a:ext uri="{FF2B5EF4-FFF2-40B4-BE49-F238E27FC236}">
                <a16:creationId xmlns:a16="http://schemas.microsoft.com/office/drawing/2014/main" id="{642F01A6-5650-4F10-A0DA-C51317120D73}"/>
              </a:ext>
            </a:extLst>
          </p:cNvPr>
          <p:cNvCxnSpPr>
            <a:cxnSpLocks/>
          </p:cNvCxnSpPr>
          <p:nvPr/>
        </p:nvCxnSpPr>
        <p:spPr>
          <a:xfrm flipH="1" flipV="1">
            <a:off x="11896447" y="4630298"/>
            <a:ext cx="42833" cy="187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F0E6192D-51C5-4251-BB10-B98D03A6F42F}"/>
              </a:ext>
            </a:extLst>
          </p:cNvPr>
          <p:cNvCxnSpPr>
            <a:cxnSpLocks/>
          </p:cNvCxnSpPr>
          <p:nvPr/>
        </p:nvCxnSpPr>
        <p:spPr>
          <a:xfrm flipV="1">
            <a:off x="5081738" y="3421733"/>
            <a:ext cx="1593133" cy="1135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FDC3B5EE-C82B-4E0F-B30D-6546CD9F1C29}"/>
              </a:ext>
            </a:extLst>
          </p:cNvPr>
          <p:cNvSpPr txBox="1"/>
          <p:nvPr/>
        </p:nvSpPr>
        <p:spPr>
          <a:xfrm>
            <a:off x="4664848" y="5155221"/>
            <a:ext cx="746221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High-dimensional categorical features are embedded (converted into a numeric latent vector representation) before entering the </a:t>
            </a:r>
            <a:r>
              <a:rPr lang="en-US" sz="1300" b="1" i="1" dirty="0"/>
              <a:t>deep</a:t>
            </a:r>
            <a:r>
              <a:rPr lang="en-US" sz="1300" dirty="0"/>
              <a:t> model. Numeric features enter the </a:t>
            </a:r>
            <a:r>
              <a:rPr lang="en-US" sz="1300" b="1" i="1" dirty="0"/>
              <a:t>deep </a:t>
            </a:r>
            <a:r>
              <a:rPr lang="en-US" sz="1300" dirty="0"/>
              <a:t>model directly as inputs (although they should be scaled). The embeddings are learned simultaneously to the other model weights.</a:t>
            </a:r>
            <a:endParaRPr lang="en-ZA" sz="1300" dirty="0"/>
          </a:p>
        </p:txBody>
      </p: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D4FA7F38-7F07-4C65-95EC-03D4811748D4}"/>
              </a:ext>
            </a:extLst>
          </p:cNvPr>
          <p:cNvCxnSpPr>
            <a:cxnSpLocks/>
            <a:endCxn id="181" idx="4"/>
          </p:cNvCxnSpPr>
          <p:nvPr/>
        </p:nvCxnSpPr>
        <p:spPr>
          <a:xfrm flipV="1">
            <a:off x="5398718" y="3426215"/>
            <a:ext cx="1267189" cy="1113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B3B3A1F0-16B0-4059-A89B-94B79D542DC3}"/>
              </a:ext>
            </a:extLst>
          </p:cNvPr>
          <p:cNvCxnSpPr>
            <a:cxnSpLocks/>
            <a:endCxn id="181" idx="4"/>
          </p:cNvCxnSpPr>
          <p:nvPr/>
        </p:nvCxnSpPr>
        <p:spPr>
          <a:xfrm flipV="1">
            <a:off x="5676680" y="3426215"/>
            <a:ext cx="989227" cy="1120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3FE0E37-1F76-4D56-8432-C2CF07FCC68F}"/>
              </a:ext>
            </a:extLst>
          </p:cNvPr>
          <p:cNvCxnSpPr>
            <a:cxnSpLocks/>
            <a:endCxn id="181" idx="4"/>
          </p:cNvCxnSpPr>
          <p:nvPr/>
        </p:nvCxnSpPr>
        <p:spPr>
          <a:xfrm flipV="1">
            <a:off x="6152505" y="3426215"/>
            <a:ext cx="513402" cy="1116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EBC78B00-C570-4BE6-A89A-A2DB9A5D6718}"/>
              </a:ext>
            </a:extLst>
          </p:cNvPr>
          <p:cNvCxnSpPr>
            <a:cxnSpLocks/>
            <a:endCxn id="181" idx="4"/>
          </p:cNvCxnSpPr>
          <p:nvPr/>
        </p:nvCxnSpPr>
        <p:spPr>
          <a:xfrm flipV="1">
            <a:off x="6448925" y="3426215"/>
            <a:ext cx="216982" cy="1108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B0144919-7EC3-4A04-AA0C-E794BCC5203A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77732" cy="1104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87F070CB-8C59-4943-AA01-0A4ED09C8411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526580" cy="1109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499CBCD0-FE5C-4976-A97D-4FB126729AD3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801846" cy="112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16A64E40-312D-40CC-A645-123E54454389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1115706" cy="1107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BCB6458D-8525-4CF1-94F9-9DAAA1DB79C0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1548574" cy="1134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12FD398E-5555-4007-9446-74B4D9A7A374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1902682" cy="11251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29E6D137-AE6C-43CA-BF17-AF77506FD0E4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2176104" cy="11206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3B212008-6CD9-472F-9B37-AF8E874BABF3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2530612" cy="1120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9D590661-E81E-4C4B-9733-4601E2F997F5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2893680" cy="11202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E7AEF031-CC40-4D7C-8B3F-0DECFAE46698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3171064" cy="11286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8E738ACB-D5ED-4804-9DD8-2B719CA0BFD3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3380548" cy="1113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CFA9606F-2195-4413-9125-04BC8D03273D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3749618" cy="1128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ADCF492B-1488-4DBA-AC69-6F0A803A9D07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3916042" cy="1127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6A857C08-5590-41F2-9400-653300D2B165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4041032" cy="1118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DDAC7675-43FE-4E7E-A415-BF01A1377D67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4336442" cy="11079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95D3C045-0F03-4676-86E0-FA528639603A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4672378" cy="1100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6201D60C-6489-45E0-867D-624951F06A0B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4953852" cy="1100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77A70DB1-13CA-4BEA-97BE-7EDAFC586560}"/>
              </a:ext>
            </a:extLst>
          </p:cNvPr>
          <p:cNvCxnSpPr>
            <a:cxnSpLocks/>
            <a:endCxn id="181" idx="4"/>
          </p:cNvCxnSpPr>
          <p:nvPr/>
        </p:nvCxnSpPr>
        <p:spPr>
          <a:xfrm flipH="1" flipV="1">
            <a:off x="6665907" y="3426215"/>
            <a:ext cx="5231360" cy="11079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8B7BE00E-3441-4E81-BF2E-D8BF254530F0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5099894" y="3442430"/>
            <a:ext cx="3589708" cy="11104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C05DB648-312D-464C-82E7-0B4C1831235B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5392701" y="3442430"/>
            <a:ext cx="3296901" cy="10965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3D6FCB6B-C50C-423F-A9C2-72188EC41AD0}"/>
              </a:ext>
            </a:extLst>
          </p:cNvPr>
          <p:cNvCxnSpPr>
            <a:cxnSpLocks/>
          </p:cNvCxnSpPr>
          <p:nvPr/>
        </p:nvCxnSpPr>
        <p:spPr>
          <a:xfrm flipV="1">
            <a:off x="5684141" y="3442430"/>
            <a:ext cx="2996497" cy="11027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6769CC8C-F9AC-4EDB-9F55-C318C41C5505}"/>
              </a:ext>
            </a:extLst>
          </p:cNvPr>
          <p:cNvCxnSpPr>
            <a:cxnSpLocks/>
          </p:cNvCxnSpPr>
          <p:nvPr/>
        </p:nvCxnSpPr>
        <p:spPr>
          <a:xfrm flipV="1">
            <a:off x="6163337" y="3446912"/>
            <a:ext cx="2521783" cy="1087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4431C04F-C383-4A6A-B880-06C5B4FDC62F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6454175" y="3442430"/>
            <a:ext cx="2235427" cy="1093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6B50FDC4-EA2E-4F9D-902C-AC37D33B5A24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6743861" y="3442430"/>
            <a:ext cx="1945741" cy="10829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E1E2EB2A-48CA-4711-937F-E8B79A85A7F3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7190339" y="3442430"/>
            <a:ext cx="1499263" cy="10930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1E7475C8-CBD9-4866-B5F2-F471C2B06224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7468978" y="3442430"/>
            <a:ext cx="1220624" cy="1110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E54ECCB7-85AA-4577-989B-5EFC0E38ECFD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7781223" y="3442430"/>
            <a:ext cx="908379" cy="1093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0C60C9FD-13C8-40A6-A8A7-23337CFD0406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8213480" y="3442430"/>
            <a:ext cx="476122" cy="112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0A180733-062B-473F-A5FD-EA750F55D23D}"/>
              </a:ext>
            </a:extLst>
          </p:cNvPr>
          <p:cNvCxnSpPr>
            <a:cxnSpLocks/>
            <a:endCxn id="182" idx="4"/>
          </p:cNvCxnSpPr>
          <p:nvPr/>
        </p:nvCxnSpPr>
        <p:spPr>
          <a:xfrm flipV="1">
            <a:off x="8563558" y="3442430"/>
            <a:ext cx="126044" cy="1115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CFA5783E-D4B2-4D12-A883-6DDEBF87EEDE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150020" cy="1106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36E0A2F3-6A76-4ADF-8042-D6AE0927CA6D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503846" cy="11025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65258FA6-3D6B-46CC-B277-624BD0FE64A7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865212" cy="11047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D15BCBD9-FB7F-4E35-8A6B-4CF02A100A94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1149192" cy="11143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1" name="Straight Connector 540">
            <a:extLst>
              <a:ext uri="{FF2B5EF4-FFF2-40B4-BE49-F238E27FC236}">
                <a16:creationId xmlns:a16="http://schemas.microsoft.com/office/drawing/2014/main" id="{4FFF3411-CC3D-4BB5-8644-0AA35F5CEF65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1357298" cy="1095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3" name="Straight Connector 542">
            <a:extLst>
              <a:ext uri="{FF2B5EF4-FFF2-40B4-BE49-F238E27FC236}">
                <a16:creationId xmlns:a16="http://schemas.microsoft.com/office/drawing/2014/main" id="{A629E55E-7626-453C-925C-AAEBBA9FE1D3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1728254" cy="1110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C1FDA9B3-92E2-4B64-A90A-0C641F1EABEC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2032790" cy="11025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2626BFE2-020B-4B29-9918-E091109DE422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1879000" cy="11101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3B7E6088-EA92-43F5-AACD-82F34B02CBBC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2311412" cy="1091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C9926EC1-E861-42FF-B1F3-E327E4A144CE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2645716" cy="10829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232DE24B-E991-447C-BB45-C055E1579350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2925176" cy="1086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89085541-0F95-4E04-AC5F-A49EBF93016E}"/>
              </a:ext>
            </a:extLst>
          </p:cNvPr>
          <p:cNvCxnSpPr>
            <a:cxnSpLocks/>
            <a:endCxn id="182" idx="4"/>
          </p:cNvCxnSpPr>
          <p:nvPr/>
        </p:nvCxnSpPr>
        <p:spPr>
          <a:xfrm flipH="1" flipV="1">
            <a:off x="8689602" y="3442430"/>
            <a:ext cx="3208548" cy="1094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8" name="Straight Connector 557">
            <a:extLst>
              <a:ext uri="{FF2B5EF4-FFF2-40B4-BE49-F238E27FC236}">
                <a16:creationId xmlns:a16="http://schemas.microsoft.com/office/drawing/2014/main" id="{4E4EC689-445A-4C40-92AA-1A4A6F4C378B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5095725" y="3454155"/>
            <a:ext cx="5627842" cy="109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E4DF74D1-DE38-4891-80A9-F0D564FB8D9B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5404295" y="3454155"/>
            <a:ext cx="5319272" cy="1081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D319DFAA-AD24-4F23-8265-460C0B7F6C88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5678178" y="3454155"/>
            <a:ext cx="5045389" cy="10922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F26A8851-3654-470B-A662-538B2317F119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6154777" y="3454155"/>
            <a:ext cx="4568790" cy="1080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1C9DBB4B-9C06-45BE-83C1-B8010DC5AE7C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6454569" y="3454155"/>
            <a:ext cx="4268998" cy="108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80616682-FC4F-46F8-B16B-CECB8B80E875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6739266" y="3454155"/>
            <a:ext cx="3984301" cy="1070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3" name="Straight Connector 572">
            <a:extLst>
              <a:ext uri="{FF2B5EF4-FFF2-40B4-BE49-F238E27FC236}">
                <a16:creationId xmlns:a16="http://schemas.microsoft.com/office/drawing/2014/main" id="{859C8BED-3031-4697-816A-796B12A78AD2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7189169" y="3454155"/>
            <a:ext cx="3534398" cy="10832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CC89F1F4-459B-400E-81FC-F0AD212A4307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7472144" y="3454155"/>
            <a:ext cx="3251423" cy="1099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3C55EE8B-CBCA-4849-BEDE-1EBA4D4C90B8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7780057" y="3454155"/>
            <a:ext cx="2943510" cy="1081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1DE185B9-81A2-4DDE-9D13-0D0DBC5EE91C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8216745" y="3454155"/>
            <a:ext cx="2506822" cy="11025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D82AD35F-6F8E-40B8-B60F-1ADC38CE08DB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8562860" y="3454155"/>
            <a:ext cx="2160707" cy="1096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2E546EF6-5006-449F-8714-E9FB4C9F25C3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8837588" y="3454155"/>
            <a:ext cx="1885979" cy="10922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034C8E82-B84B-4535-8A9B-B82A46F1478E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9195031" y="3454155"/>
            <a:ext cx="1528536" cy="1085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7AC04AE7-C0B4-46E0-A504-ECEF42F68742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9551830" y="3454155"/>
            <a:ext cx="1171737" cy="10957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8323462E-F57B-4FEE-B713-53B5D483E3BA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9835371" y="3454155"/>
            <a:ext cx="888196" cy="10964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86277442-D6AD-4558-9FF3-8FC47AD98370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10042236" y="3454155"/>
            <a:ext cx="681331" cy="1082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E47C0E7C-D7E4-44F6-8B51-3555757C5AFB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10413620" y="3454155"/>
            <a:ext cx="309947" cy="11009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9BEE2EA3-A2F7-4194-B73F-AD71BAAFA51E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10570091" y="3454155"/>
            <a:ext cx="153476" cy="11016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A1337C75-4DE3-40C5-A341-C4AB14347A6D}"/>
              </a:ext>
            </a:extLst>
          </p:cNvPr>
          <p:cNvCxnSpPr>
            <a:cxnSpLocks/>
            <a:endCxn id="185" idx="4"/>
          </p:cNvCxnSpPr>
          <p:nvPr/>
        </p:nvCxnSpPr>
        <p:spPr>
          <a:xfrm flipV="1">
            <a:off x="10715057" y="3454155"/>
            <a:ext cx="8510" cy="1093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92481B62-A997-429D-B8E4-84E51FE24229}"/>
              </a:ext>
            </a:extLst>
          </p:cNvPr>
          <p:cNvCxnSpPr>
            <a:cxnSpLocks/>
            <a:endCxn id="185" idx="4"/>
          </p:cNvCxnSpPr>
          <p:nvPr/>
        </p:nvCxnSpPr>
        <p:spPr>
          <a:xfrm flipH="1" flipV="1">
            <a:off x="10723567" y="3454155"/>
            <a:ext cx="274534" cy="1081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A80B2C1E-B203-4625-9451-7CEEF0C3A223}"/>
              </a:ext>
            </a:extLst>
          </p:cNvPr>
          <p:cNvCxnSpPr>
            <a:cxnSpLocks/>
            <a:endCxn id="185" idx="4"/>
          </p:cNvCxnSpPr>
          <p:nvPr/>
        </p:nvCxnSpPr>
        <p:spPr>
          <a:xfrm flipH="1" flipV="1">
            <a:off x="10723567" y="3454155"/>
            <a:ext cx="611380" cy="1070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78948E56-6BCC-4827-B274-542B19A20027}"/>
              </a:ext>
            </a:extLst>
          </p:cNvPr>
          <p:cNvCxnSpPr>
            <a:cxnSpLocks/>
            <a:endCxn id="185" idx="4"/>
          </p:cNvCxnSpPr>
          <p:nvPr/>
        </p:nvCxnSpPr>
        <p:spPr>
          <a:xfrm flipH="1" flipV="1">
            <a:off x="10723567" y="3454155"/>
            <a:ext cx="897650" cy="10744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7B6F9826-34E9-4085-83DB-82D646E8BE36}"/>
              </a:ext>
            </a:extLst>
          </p:cNvPr>
          <p:cNvCxnSpPr>
            <a:cxnSpLocks/>
            <a:endCxn id="185" idx="4"/>
          </p:cNvCxnSpPr>
          <p:nvPr/>
        </p:nvCxnSpPr>
        <p:spPr>
          <a:xfrm flipH="1" flipV="1">
            <a:off x="10723567" y="3454155"/>
            <a:ext cx="1171976" cy="1077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9" name="Straight Arrow Connector 618">
            <a:extLst>
              <a:ext uri="{FF2B5EF4-FFF2-40B4-BE49-F238E27FC236}">
                <a16:creationId xmlns:a16="http://schemas.microsoft.com/office/drawing/2014/main" id="{E2F89F67-CF16-4386-811C-E0033EABA8BD}"/>
              </a:ext>
            </a:extLst>
          </p:cNvPr>
          <p:cNvCxnSpPr>
            <a:stCxn id="383" idx="1"/>
          </p:cNvCxnSpPr>
          <p:nvPr/>
        </p:nvCxnSpPr>
        <p:spPr>
          <a:xfrm flipH="1" flipV="1">
            <a:off x="524139" y="4589247"/>
            <a:ext cx="4948681" cy="1614334"/>
          </a:xfrm>
          <a:prstGeom prst="straightConnector1">
            <a:avLst/>
          </a:prstGeom>
          <a:ln>
            <a:solidFill>
              <a:srgbClr val="64CF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Arrow Connector 619">
            <a:extLst>
              <a:ext uri="{FF2B5EF4-FFF2-40B4-BE49-F238E27FC236}">
                <a16:creationId xmlns:a16="http://schemas.microsoft.com/office/drawing/2014/main" id="{69882F23-BE3C-4C5C-B9EF-A139941C0C3A}"/>
              </a:ext>
            </a:extLst>
          </p:cNvPr>
          <p:cNvCxnSpPr>
            <a:cxnSpLocks/>
          </p:cNvCxnSpPr>
          <p:nvPr/>
        </p:nvCxnSpPr>
        <p:spPr>
          <a:xfrm flipH="1" flipV="1">
            <a:off x="1421914" y="4556917"/>
            <a:ext cx="5177611" cy="1640850"/>
          </a:xfrm>
          <a:prstGeom prst="straightConnector1">
            <a:avLst/>
          </a:prstGeom>
          <a:ln>
            <a:solidFill>
              <a:srgbClr val="64CF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Arrow Connector 621">
            <a:extLst>
              <a:ext uri="{FF2B5EF4-FFF2-40B4-BE49-F238E27FC236}">
                <a16:creationId xmlns:a16="http://schemas.microsoft.com/office/drawing/2014/main" id="{CFBB99D7-1449-442B-90C0-A1D5975C5A1F}"/>
              </a:ext>
            </a:extLst>
          </p:cNvPr>
          <p:cNvCxnSpPr>
            <a:cxnSpLocks/>
          </p:cNvCxnSpPr>
          <p:nvPr/>
        </p:nvCxnSpPr>
        <p:spPr>
          <a:xfrm flipH="1" flipV="1">
            <a:off x="2627100" y="4550376"/>
            <a:ext cx="5487811" cy="1627472"/>
          </a:xfrm>
          <a:prstGeom prst="straightConnector1">
            <a:avLst/>
          </a:prstGeom>
          <a:ln>
            <a:solidFill>
              <a:srgbClr val="64CF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3119F851-FA08-4784-8E90-F817D615B13F}"/>
              </a:ext>
            </a:extLst>
          </p:cNvPr>
          <p:cNvCxnSpPr>
            <a:cxnSpLocks/>
          </p:cNvCxnSpPr>
          <p:nvPr/>
        </p:nvCxnSpPr>
        <p:spPr>
          <a:xfrm flipH="1" flipV="1">
            <a:off x="4039932" y="4526585"/>
            <a:ext cx="5513745" cy="1627472"/>
          </a:xfrm>
          <a:prstGeom prst="straightConnector1">
            <a:avLst/>
          </a:prstGeom>
          <a:ln>
            <a:solidFill>
              <a:srgbClr val="64CF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TextBox 625">
            <a:extLst>
              <a:ext uri="{FF2B5EF4-FFF2-40B4-BE49-F238E27FC236}">
                <a16:creationId xmlns:a16="http://schemas.microsoft.com/office/drawing/2014/main" id="{3994EAC7-E5BC-466B-8226-57FBB14762EB}"/>
              </a:ext>
            </a:extLst>
          </p:cNvPr>
          <p:cNvSpPr txBox="1"/>
          <p:nvPr/>
        </p:nvSpPr>
        <p:spPr>
          <a:xfrm>
            <a:off x="1831004" y="4735640"/>
            <a:ext cx="2557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hand-picked selection of features enter the </a:t>
            </a:r>
            <a:r>
              <a:rPr lang="en-US" sz="1400" b="1" i="1" dirty="0"/>
              <a:t>wide</a:t>
            </a:r>
            <a:r>
              <a:rPr lang="en-US" sz="1400" dirty="0"/>
              <a:t> model</a:t>
            </a:r>
            <a:endParaRPr lang="en-ZA" dirty="0"/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89F01577-B7A2-4B23-9B66-631EB478A579}"/>
              </a:ext>
            </a:extLst>
          </p:cNvPr>
          <p:cNvSpPr txBox="1"/>
          <p:nvPr/>
        </p:nvSpPr>
        <p:spPr>
          <a:xfrm>
            <a:off x="3875517" y="2656767"/>
            <a:ext cx="1886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bias</a:t>
            </a:r>
            <a:endParaRPr lang="en-ZA" sz="1000" dirty="0">
              <a:solidFill>
                <a:srgbClr val="FF0000"/>
              </a:solidFill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D642AF0B-F1E0-49EC-B609-3F7940197462}"/>
              </a:ext>
            </a:extLst>
          </p:cNvPr>
          <p:cNvCxnSpPr>
            <a:cxnSpLocks/>
          </p:cNvCxnSpPr>
          <p:nvPr/>
        </p:nvCxnSpPr>
        <p:spPr>
          <a:xfrm flipH="1" flipV="1">
            <a:off x="3962072" y="2370058"/>
            <a:ext cx="86338" cy="33852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TextBox 632">
            <a:extLst>
              <a:ext uri="{FF2B5EF4-FFF2-40B4-BE49-F238E27FC236}">
                <a16:creationId xmlns:a16="http://schemas.microsoft.com/office/drawing/2014/main" id="{68FEAA6B-F43B-4EF1-AF85-711DEAB28010}"/>
              </a:ext>
            </a:extLst>
          </p:cNvPr>
          <p:cNvSpPr txBox="1"/>
          <p:nvPr/>
        </p:nvSpPr>
        <p:spPr>
          <a:xfrm>
            <a:off x="6387363" y="1728002"/>
            <a:ext cx="1886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(linear activation on last layer)</a:t>
            </a:r>
            <a:endParaRPr lang="en-ZA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31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A4CB-509B-4061-B98A-88E07F0DA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338231"/>
            <a:ext cx="10515600" cy="1325563"/>
          </a:xfrm>
        </p:spPr>
        <p:txBody>
          <a:bodyPr/>
          <a:lstStyle/>
          <a:p>
            <a:r>
              <a:rPr lang="en-US" dirty="0"/>
              <a:t>Illustration of deepFM Structure</a:t>
            </a:r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E2A13-31FB-4774-A3F2-109D74260FBB}"/>
              </a:ext>
            </a:extLst>
          </p:cNvPr>
          <p:cNvSpPr txBox="1"/>
          <p:nvPr/>
        </p:nvSpPr>
        <p:spPr>
          <a:xfrm>
            <a:off x="1042716" y="5416382"/>
            <a:ext cx="114394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                                              [0.99, 0.48, -0.34]               [-0.93, 0.18, -0.28]      [0.93, -0.59, -0.22]      [0.43, 1.00, -0.61]</a:t>
            </a:r>
            <a:endParaRPr lang="en-ZA" sz="1000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6FB69C-22EF-44DA-BBA6-82547E3516C8}"/>
              </a:ext>
            </a:extLst>
          </p:cNvPr>
          <p:cNvSpPr txBox="1"/>
          <p:nvPr/>
        </p:nvSpPr>
        <p:spPr>
          <a:xfrm>
            <a:off x="5224" y="6352507"/>
            <a:ext cx="16371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63BE7B"/>
                </a:solidFill>
              </a:rPr>
              <a:t>Raw input data:</a:t>
            </a:r>
            <a:endParaRPr lang="en-ZA" sz="1500" dirty="0">
              <a:solidFill>
                <a:srgbClr val="63BE7B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4B8137-F4BD-4769-A6EC-03FA404AE3C1}"/>
              </a:ext>
            </a:extLst>
          </p:cNvPr>
          <p:cNvSpPr txBox="1"/>
          <p:nvPr/>
        </p:nvSpPr>
        <p:spPr>
          <a:xfrm>
            <a:off x="63175" y="5384543"/>
            <a:ext cx="21691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</a:rPr>
              <a:t>Generate Latent Vectors</a:t>
            </a:r>
            <a:r>
              <a:rPr lang="en-US" sz="1300" dirty="0">
                <a:solidFill>
                  <a:schemeClr val="accent1"/>
                </a:solidFill>
              </a:rPr>
              <a:t>:</a:t>
            </a:r>
            <a:endParaRPr lang="en-ZA" sz="1300" dirty="0">
              <a:solidFill>
                <a:schemeClr val="accent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859F49-1E9C-44B5-A60A-AA014728839F}"/>
              </a:ext>
            </a:extLst>
          </p:cNvPr>
          <p:cNvCxnSpPr>
            <a:cxnSpLocks/>
          </p:cNvCxnSpPr>
          <p:nvPr/>
        </p:nvCxnSpPr>
        <p:spPr>
          <a:xfrm flipV="1">
            <a:off x="2790422" y="5669974"/>
            <a:ext cx="45787" cy="82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4CCB4B-443E-4CF3-B036-C908D85653FF}"/>
              </a:ext>
            </a:extLst>
          </p:cNvPr>
          <p:cNvCxnSpPr>
            <a:cxnSpLocks/>
          </p:cNvCxnSpPr>
          <p:nvPr/>
        </p:nvCxnSpPr>
        <p:spPr>
          <a:xfrm flipV="1">
            <a:off x="4218018" y="5662433"/>
            <a:ext cx="33063" cy="850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687D80-3ED4-404B-A87F-3F17B716D3CF}"/>
              </a:ext>
            </a:extLst>
          </p:cNvPr>
          <p:cNvCxnSpPr>
            <a:cxnSpLocks/>
          </p:cNvCxnSpPr>
          <p:nvPr/>
        </p:nvCxnSpPr>
        <p:spPr>
          <a:xfrm flipH="1" flipV="1">
            <a:off x="5506649" y="5669974"/>
            <a:ext cx="170640" cy="82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71D910-DDF4-4C6D-9699-44E1A9E010B2}"/>
              </a:ext>
            </a:extLst>
          </p:cNvPr>
          <p:cNvCxnSpPr>
            <a:cxnSpLocks/>
          </p:cNvCxnSpPr>
          <p:nvPr/>
        </p:nvCxnSpPr>
        <p:spPr>
          <a:xfrm flipV="1">
            <a:off x="6216486" y="5669974"/>
            <a:ext cx="250279" cy="83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7571C9F-FD73-43D7-B222-E7C722C7E6C7}"/>
              </a:ext>
            </a:extLst>
          </p:cNvPr>
          <p:cNvCxnSpPr>
            <a:cxnSpLocks/>
          </p:cNvCxnSpPr>
          <p:nvPr/>
        </p:nvCxnSpPr>
        <p:spPr>
          <a:xfrm flipV="1">
            <a:off x="7354266" y="5807322"/>
            <a:ext cx="0" cy="74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22FB49-DD64-4A7D-80F2-4E338979C514}"/>
              </a:ext>
            </a:extLst>
          </p:cNvPr>
          <p:cNvCxnSpPr>
            <a:cxnSpLocks/>
          </p:cNvCxnSpPr>
          <p:nvPr/>
        </p:nvCxnSpPr>
        <p:spPr>
          <a:xfrm flipH="1" flipV="1">
            <a:off x="9189164" y="5800041"/>
            <a:ext cx="140869" cy="694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7F1C3EBC-943C-4C36-9AC2-9C593812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52" y="6359878"/>
            <a:ext cx="10796954" cy="365033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64CCE2-F5EA-4771-93D0-02102FA2BB59}"/>
              </a:ext>
            </a:extLst>
          </p:cNvPr>
          <p:cNvCxnSpPr>
            <a:cxnSpLocks/>
          </p:cNvCxnSpPr>
          <p:nvPr/>
        </p:nvCxnSpPr>
        <p:spPr>
          <a:xfrm flipH="1" flipV="1">
            <a:off x="9330033" y="5800041"/>
            <a:ext cx="323852" cy="67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C3FE1E9-4953-4AA6-80A4-A4D1913EDA12}"/>
              </a:ext>
            </a:extLst>
          </p:cNvPr>
          <p:cNvCxnSpPr>
            <a:cxnSpLocks/>
            <a:endCxn id="89" idx="2"/>
          </p:cNvCxnSpPr>
          <p:nvPr/>
        </p:nvCxnSpPr>
        <p:spPr>
          <a:xfrm flipH="1" flipV="1">
            <a:off x="9536656" y="5808797"/>
            <a:ext cx="617664" cy="65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57DB98-9481-4AA2-9798-A38F334BE81B}"/>
                  </a:ext>
                </a:extLst>
              </p:cNvPr>
              <p:cNvSpPr txBox="1"/>
              <p:nvPr/>
            </p:nvSpPr>
            <p:spPr>
              <a:xfrm>
                <a:off x="2746765" y="5156172"/>
                <a:ext cx="2777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57DB98-9481-4AA2-9798-A38F334B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765" y="5156172"/>
                <a:ext cx="277705" cy="276999"/>
              </a:xfrm>
              <a:prstGeom prst="rect">
                <a:avLst/>
              </a:prstGeom>
              <a:blipFill>
                <a:blip r:embed="rId3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B33E9BB-7B48-478F-9387-7FF8A3D9F9F0}"/>
                  </a:ext>
                </a:extLst>
              </p:cNvPr>
              <p:cNvSpPr txBox="1"/>
              <p:nvPr/>
            </p:nvSpPr>
            <p:spPr>
              <a:xfrm>
                <a:off x="4169662" y="5150311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B33E9BB-7B48-478F-9387-7FF8A3D9F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662" y="5150311"/>
                <a:ext cx="283026" cy="276999"/>
              </a:xfrm>
              <a:prstGeom prst="rect">
                <a:avLst/>
              </a:prstGeom>
              <a:blipFill>
                <a:blip r:embed="rId4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384985F-EA5A-41B6-BB3E-CA58735F1137}"/>
                  </a:ext>
                </a:extLst>
              </p:cNvPr>
              <p:cNvSpPr txBox="1"/>
              <p:nvPr/>
            </p:nvSpPr>
            <p:spPr>
              <a:xfrm>
                <a:off x="5328780" y="5148849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384985F-EA5A-41B6-BB3E-CA58735F1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780" y="5148849"/>
                <a:ext cx="283026" cy="276999"/>
              </a:xfrm>
              <a:prstGeom prst="rect">
                <a:avLst/>
              </a:prstGeom>
              <a:blipFill>
                <a:blip r:embed="rId5"/>
                <a:stretch>
                  <a:fillRect l="-12766" r="-8511" b="-1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B3FE6B1-22EA-403A-AFC4-9D06AFC6E37C}"/>
                  </a:ext>
                </a:extLst>
              </p:cNvPr>
              <p:cNvSpPr txBox="1"/>
              <p:nvPr/>
            </p:nvSpPr>
            <p:spPr>
              <a:xfrm>
                <a:off x="6514276" y="5147387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B3FE6B1-22EA-403A-AFC4-9D06AFC6E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276" y="5147387"/>
                <a:ext cx="283026" cy="276999"/>
              </a:xfrm>
              <a:prstGeom prst="rect">
                <a:avLst/>
              </a:prstGeom>
              <a:blipFill>
                <a:blip r:embed="rId6"/>
                <a:stretch>
                  <a:fillRect l="-10870" r="-6522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670C7E-2805-4188-8C83-B185648C5936}"/>
                  </a:ext>
                </a:extLst>
              </p:cNvPr>
              <p:cNvSpPr txBox="1"/>
              <p:nvPr/>
            </p:nvSpPr>
            <p:spPr>
              <a:xfrm>
                <a:off x="375867" y="3166739"/>
                <a:ext cx="5385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b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US" sz="16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𝐅𝐌</m:t>
                          </m:r>
                        </m:sub>
                      </m:sSub>
                    </m:oMath>
                  </m:oMathPara>
                </a14:m>
                <a:endParaRPr lang="en-ZA" sz="16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670C7E-2805-4188-8C83-B185648C5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67" y="3166739"/>
                <a:ext cx="538533" cy="246221"/>
              </a:xfrm>
              <a:prstGeom prst="rect">
                <a:avLst/>
              </a:prstGeom>
              <a:blipFill>
                <a:blip r:embed="rId7"/>
                <a:stretch>
                  <a:fillRect t="-14634" r="-2273" b="-2439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1B11999-67DC-4BC6-BE2B-E896EBD69A09}"/>
                  </a:ext>
                </a:extLst>
              </p:cNvPr>
              <p:cNvSpPr txBox="1"/>
              <p:nvPr/>
            </p:nvSpPr>
            <p:spPr>
              <a:xfrm>
                <a:off x="1049013" y="3750402"/>
                <a:ext cx="53759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&gt;+&lt;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&gt;+…+&lt;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&gt;⋅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ZA" sz="1200" b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1B11999-67DC-4BC6-BE2B-E896EBD69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13" y="3750402"/>
                <a:ext cx="5375937" cy="184666"/>
              </a:xfrm>
              <a:prstGeom prst="rect">
                <a:avLst/>
              </a:prstGeom>
              <a:blipFill>
                <a:blip r:embed="rId8"/>
                <a:stretch>
                  <a:fillRect l="-907" b="-16129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045FDB4-6111-473E-8A0A-D53920F2CDA2}"/>
                  </a:ext>
                </a:extLst>
              </p:cNvPr>
              <p:cNvSpPr txBox="1"/>
              <p:nvPr/>
            </p:nvSpPr>
            <p:spPr>
              <a:xfrm>
                <a:off x="842682" y="3437966"/>
                <a:ext cx="4240807" cy="202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𝐮𝐬𝐞𝐫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</a:rPr>
                            <m:t>𝐢𝐭𝐞𝐦𝟐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</a:rPr>
                            <m:t>𝐟𝐫𝐢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</a:rPr>
                            <m:t>𝟗𝐚𝐦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𝟓𝟏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</a:rPr>
                            <m:t>𝐚𝐠𝐞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sz="12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𝐭𝐞𝐜𝐡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ZA" sz="12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045FDB4-6111-473E-8A0A-D53920F2C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82" y="3437966"/>
                <a:ext cx="4240807" cy="202299"/>
              </a:xfrm>
              <a:prstGeom prst="rect">
                <a:avLst/>
              </a:prstGeom>
              <a:blipFill>
                <a:blip r:embed="rId9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D537DD9D-5792-471A-81D9-9EA4D4888550}"/>
              </a:ext>
            </a:extLst>
          </p:cNvPr>
          <p:cNvSpPr txBox="1"/>
          <p:nvPr/>
        </p:nvSpPr>
        <p:spPr>
          <a:xfrm>
            <a:off x="6932857" y="5625441"/>
            <a:ext cx="1252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[0.13, 0.38, -0.11]</a:t>
            </a:r>
            <a:endParaRPr lang="en-ZA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4E6A738-BF30-4CC8-9252-7AF1B851EE9D}"/>
                  </a:ext>
                </a:extLst>
              </p:cNvPr>
              <p:cNvSpPr txBox="1"/>
              <p:nvPr/>
            </p:nvSpPr>
            <p:spPr>
              <a:xfrm>
                <a:off x="7268944" y="5374520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4E6A738-BF30-4CC8-9252-7AF1B851E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944" y="5374520"/>
                <a:ext cx="283026" cy="276999"/>
              </a:xfrm>
              <a:prstGeom prst="rect">
                <a:avLst/>
              </a:prstGeom>
              <a:blipFill>
                <a:blip r:embed="rId10"/>
                <a:stretch>
                  <a:fillRect l="-12766" r="-8511" b="-17778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1D9FBF2C-11D5-4B9E-89C7-A453EBAD570A}"/>
              </a:ext>
            </a:extLst>
          </p:cNvPr>
          <p:cNvSpPr txBox="1"/>
          <p:nvPr/>
        </p:nvSpPr>
        <p:spPr>
          <a:xfrm>
            <a:off x="7813337" y="5148792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[0.26, -0.94, 0.31]</a:t>
            </a:r>
            <a:endParaRPr lang="en-ZA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14EB8D-F5D3-4014-A3AA-F250FEC96156}"/>
              </a:ext>
            </a:extLst>
          </p:cNvPr>
          <p:cNvSpPr txBox="1"/>
          <p:nvPr/>
        </p:nvSpPr>
        <p:spPr>
          <a:xfrm>
            <a:off x="8705085" y="5562576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[0.69, -4.20, 1.01]</a:t>
            </a:r>
            <a:endParaRPr lang="en-ZA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F9A94CC-138F-4036-91D9-65B7EA0D251F}"/>
                  </a:ext>
                </a:extLst>
              </p:cNvPr>
              <p:cNvSpPr txBox="1"/>
              <p:nvPr/>
            </p:nvSpPr>
            <p:spPr>
              <a:xfrm>
                <a:off x="8207517" y="4944501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F9A94CC-138F-4036-91D9-65B7EA0D2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517" y="4944501"/>
                <a:ext cx="283026" cy="276999"/>
              </a:xfrm>
              <a:prstGeom prst="rect">
                <a:avLst/>
              </a:prstGeom>
              <a:blipFill>
                <a:blip r:embed="rId11"/>
                <a:stretch>
                  <a:fillRect l="-12766" r="-8511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501BF68-82F3-44A1-90E8-74AFAD8FD358}"/>
                  </a:ext>
                </a:extLst>
              </p:cNvPr>
              <p:cNvSpPr txBox="1"/>
              <p:nvPr/>
            </p:nvSpPr>
            <p:spPr>
              <a:xfrm>
                <a:off x="9122662" y="5342283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501BF68-82F3-44A1-90E8-74AFAD8FD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662" y="5342283"/>
                <a:ext cx="283026" cy="276999"/>
              </a:xfrm>
              <a:prstGeom prst="rect">
                <a:avLst/>
              </a:prstGeom>
              <a:blipFill>
                <a:blip r:embed="rId12"/>
                <a:stretch>
                  <a:fillRect l="-10638" r="-8511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5B57646-49A3-4A97-BA6D-F18631922C8F}"/>
              </a:ext>
            </a:extLst>
          </p:cNvPr>
          <p:cNvCxnSpPr>
            <a:cxnSpLocks/>
          </p:cNvCxnSpPr>
          <p:nvPr/>
        </p:nvCxnSpPr>
        <p:spPr>
          <a:xfrm flipV="1">
            <a:off x="7653056" y="5342283"/>
            <a:ext cx="565582" cy="1159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75D2CDFB-D382-49C0-B7A1-1C5CCFC80AFB}"/>
              </a:ext>
            </a:extLst>
          </p:cNvPr>
          <p:cNvSpPr txBox="1"/>
          <p:nvPr/>
        </p:nvSpPr>
        <p:spPr>
          <a:xfrm>
            <a:off x="9566737" y="5318635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[0.14, 0.1, 2.0]</a:t>
            </a:r>
            <a:endParaRPr lang="en-ZA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7C527C8-729C-4774-A13A-7033B2B35449}"/>
                  </a:ext>
                </a:extLst>
              </p:cNvPr>
              <p:cNvSpPr txBox="1"/>
              <p:nvPr/>
            </p:nvSpPr>
            <p:spPr>
              <a:xfrm>
                <a:off x="9984314" y="5098342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7C527C8-729C-4774-A13A-7033B2B35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314" y="5098342"/>
                <a:ext cx="283026" cy="276999"/>
              </a:xfrm>
              <a:prstGeom prst="rect">
                <a:avLst/>
              </a:prstGeom>
              <a:blipFill>
                <a:blip r:embed="rId13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05A84D22-9A05-4D98-A0A7-BC5717317589}"/>
              </a:ext>
            </a:extLst>
          </p:cNvPr>
          <p:cNvSpPr txBox="1"/>
          <p:nvPr/>
        </p:nvSpPr>
        <p:spPr>
          <a:xfrm>
            <a:off x="10431182" y="5528408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[-2.2, 1, 0]</a:t>
            </a:r>
            <a:endParaRPr lang="en-ZA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F8C9130-6C41-4E34-8656-AB2308C6FB34}"/>
                  </a:ext>
                </a:extLst>
              </p:cNvPr>
              <p:cNvSpPr txBox="1"/>
              <p:nvPr/>
            </p:nvSpPr>
            <p:spPr>
              <a:xfrm>
                <a:off x="10617501" y="5312522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F8C9130-6C41-4E34-8656-AB2308C6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7501" y="5312522"/>
                <a:ext cx="283026" cy="276999"/>
              </a:xfrm>
              <a:prstGeom prst="rect">
                <a:avLst/>
              </a:prstGeom>
              <a:blipFill>
                <a:blip r:embed="rId14"/>
                <a:stretch>
                  <a:fillRect l="-10870" r="-8696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A237C28A-AE49-4C09-AF08-6A6B63963397}"/>
              </a:ext>
            </a:extLst>
          </p:cNvPr>
          <p:cNvSpPr txBox="1"/>
          <p:nvPr/>
        </p:nvSpPr>
        <p:spPr>
          <a:xfrm>
            <a:off x="11193452" y="5303957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[0, 1.74, 0.02]</a:t>
            </a:r>
            <a:endParaRPr lang="en-ZA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C8F412A-7C14-4BD1-BADE-62788E85E57B}"/>
                  </a:ext>
                </a:extLst>
              </p:cNvPr>
              <p:cNvSpPr txBox="1"/>
              <p:nvPr/>
            </p:nvSpPr>
            <p:spPr>
              <a:xfrm>
                <a:off x="11531901" y="5083664"/>
                <a:ext cx="3754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C8F412A-7C14-4BD1-BADE-62788E85E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1901" y="5083664"/>
                <a:ext cx="375487" cy="276999"/>
              </a:xfrm>
              <a:prstGeom prst="rect">
                <a:avLst/>
              </a:prstGeom>
              <a:blipFill>
                <a:blip r:embed="rId15"/>
                <a:stretch>
                  <a:fillRect l="-8197" r="-6557" b="-1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EF698294-5F2E-4B8A-B426-C70410D47844}"/>
              </a:ext>
            </a:extLst>
          </p:cNvPr>
          <p:cNvSpPr txBox="1"/>
          <p:nvPr/>
        </p:nvSpPr>
        <p:spPr>
          <a:xfrm>
            <a:off x="11295626" y="5866735"/>
            <a:ext cx="166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[-2.2, -0.3, 3.34]</a:t>
            </a:r>
            <a:endParaRPr lang="en-ZA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EE5298-D57B-442E-B8C4-D9A2FAAA0155}"/>
                  </a:ext>
                </a:extLst>
              </p:cNvPr>
              <p:cNvSpPr txBox="1"/>
              <p:nvPr/>
            </p:nvSpPr>
            <p:spPr>
              <a:xfrm>
                <a:off x="11751710" y="5646629"/>
                <a:ext cx="3754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EE5298-D57B-442E-B8C4-D9A2FAAA0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710" y="5646629"/>
                <a:ext cx="375487" cy="276999"/>
              </a:xfrm>
              <a:prstGeom prst="rect">
                <a:avLst/>
              </a:prstGeom>
              <a:blipFill>
                <a:blip r:embed="rId16"/>
                <a:stretch>
                  <a:fillRect l="-8197" r="-6557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0A3FC81-5EB4-49F9-8719-DF5A24C4BD8B}"/>
              </a:ext>
            </a:extLst>
          </p:cNvPr>
          <p:cNvCxnSpPr>
            <a:cxnSpLocks/>
          </p:cNvCxnSpPr>
          <p:nvPr/>
        </p:nvCxnSpPr>
        <p:spPr>
          <a:xfrm flipH="1" flipV="1">
            <a:off x="9536655" y="5809675"/>
            <a:ext cx="617664" cy="65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3F02AD8-213B-4C93-9D1A-2B89061CB162}"/>
              </a:ext>
            </a:extLst>
          </p:cNvPr>
          <p:cNvCxnSpPr>
            <a:cxnSpLocks/>
          </p:cNvCxnSpPr>
          <p:nvPr/>
        </p:nvCxnSpPr>
        <p:spPr>
          <a:xfrm flipH="1" flipV="1">
            <a:off x="10124768" y="5528408"/>
            <a:ext cx="484623" cy="97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9EC0ADE-E620-47DB-AC1A-9BBB1BA7B1BD}"/>
              </a:ext>
            </a:extLst>
          </p:cNvPr>
          <p:cNvCxnSpPr>
            <a:cxnSpLocks/>
          </p:cNvCxnSpPr>
          <p:nvPr/>
        </p:nvCxnSpPr>
        <p:spPr>
          <a:xfrm flipH="1" flipV="1">
            <a:off x="10786323" y="5743958"/>
            <a:ext cx="268059" cy="857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3915725-80A1-47EC-BC2C-5518EC9EFFD7}"/>
              </a:ext>
            </a:extLst>
          </p:cNvPr>
          <p:cNvCxnSpPr>
            <a:cxnSpLocks/>
          </p:cNvCxnSpPr>
          <p:nvPr/>
        </p:nvCxnSpPr>
        <p:spPr>
          <a:xfrm flipV="1">
            <a:off x="11488713" y="5567082"/>
            <a:ext cx="8522" cy="94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FAEA884-64CC-4DB6-87F0-8319D739D980}"/>
              </a:ext>
            </a:extLst>
          </p:cNvPr>
          <p:cNvCxnSpPr>
            <a:cxnSpLocks/>
          </p:cNvCxnSpPr>
          <p:nvPr/>
        </p:nvCxnSpPr>
        <p:spPr>
          <a:xfrm flipH="1" flipV="1">
            <a:off x="11876533" y="6068634"/>
            <a:ext cx="30857" cy="538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32A98ED-3F99-4269-9F16-41FA583BF19A}"/>
              </a:ext>
            </a:extLst>
          </p:cNvPr>
          <p:cNvSpPr/>
          <p:nvPr/>
        </p:nvSpPr>
        <p:spPr>
          <a:xfrm>
            <a:off x="282044" y="3156459"/>
            <a:ext cx="5046736" cy="87389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BA243A2-7222-44B2-98C6-9173F766713B}"/>
              </a:ext>
            </a:extLst>
          </p:cNvPr>
          <p:cNvSpPr txBox="1"/>
          <p:nvPr/>
        </p:nvSpPr>
        <p:spPr>
          <a:xfrm>
            <a:off x="1162186" y="2789694"/>
            <a:ext cx="472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Factorisation Machine</a:t>
            </a:r>
            <a:endParaRPr lang="en-ZA" b="1" dirty="0">
              <a:solidFill>
                <a:srgbClr val="7030A0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1DD68EA-C42F-41BA-A084-3D8FB31DAE7E}"/>
              </a:ext>
            </a:extLst>
          </p:cNvPr>
          <p:cNvSpPr/>
          <p:nvPr/>
        </p:nvSpPr>
        <p:spPr>
          <a:xfrm>
            <a:off x="5851282" y="2063093"/>
            <a:ext cx="5900428" cy="2035952"/>
          </a:xfrm>
          <a:prstGeom prst="rect">
            <a:avLst/>
          </a:prstGeom>
          <a:noFill/>
          <a:ln>
            <a:solidFill>
              <a:srgbClr val="C55A1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43D5E82-A590-432E-ACCD-CBE57F1A39E3}"/>
              </a:ext>
            </a:extLst>
          </p:cNvPr>
          <p:cNvSpPr txBox="1"/>
          <p:nvPr/>
        </p:nvSpPr>
        <p:spPr>
          <a:xfrm>
            <a:off x="9566737" y="1401507"/>
            <a:ext cx="4727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Deep Neural Network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(any desired variant)</a:t>
            </a:r>
            <a:endParaRPr lang="en-ZA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0" name="Arrow: Up 169">
            <a:extLst>
              <a:ext uri="{FF2B5EF4-FFF2-40B4-BE49-F238E27FC236}">
                <a16:creationId xmlns:a16="http://schemas.microsoft.com/office/drawing/2014/main" id="{464C648A-BBE8-4A74-B10B-37673606D314}"/>
              </a:ext>
            </a:extLst>
          </p:cNvPr>
          <p:cNvSpPr/>
          <p:nvPr/>
        </p:nvSpPr>
        <p:spPr>
          <a:xfrm>
            <a:off x="5921619" y="4003765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1" name="Arrow: Up 170">
            <a:extLst>
              <a:ext uri="{FF2B5EF4-FFF2-40B4-BE49-F238E27FC236}">
                <a16:creationId xmlns:a16="http://schemas.microsoft.com/office/drawing/2014/main" id="{81E90713-6E6A-4F73-875E-D9E6103F6031}"/>
              </a:ext>
            </a:extLst>
          </p:cNvPr>
          <p:cNvSpPr/>
          <p:nvPr/>
        </p:nvSpPr>
        <p:spPr>
          <a:xfrm>
            <a:off x="6404377" y="4003765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2" name="Arrow: Up 171">
            <a:extLst>
              <a:ext uri="{FF2B5EF4-FFF2-40B4-BE49-F238E27FC236}">
                <a16:creationId xmlns:a16="http://schemas.microsoft.com/office/drawing/2014/main" id="{8D049AB0-7495-4ECA-B2BE-008731F11C8B}"/>
              </a:ext>
            </a:extLst>
          </p:cNvPr>
          <p:cNvSpPr/>
          <p:nvPr/>
        </p:nvSpPr>
        <p:spPr>
          <a:xfrm>
            <a:off x="6878514" y="4002301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3" name="Arrow: Up 172">
            <a:extLst>
              <a:ext uri="{FF2B5EF4-FFF2-40B4-BE49-F238E27FC236}">
                <a16:creationId xmlns:a16="http://schemas.microsoft.com/office/drawing/2014/main" id="{56CE6CE2-1C85-4AF4-A31A-79B695045DC5}"/>
              </a:ext>
            </a:extLst>
          </p:cNvPr>
          <p:cNvSpPr/>
          <p:nvPr/>
        </p:nvSpPr>
        <p:spPr>
          <a:xfrm>
            <a:off x="7400840" y="4002301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4" name="Arrow: Up 173">
            <a:extLst>
              <a:ext uri="{FF2B5EF4-FFF2-40B4-BE49-F238E27FC236}">
                <a16:creationId xmlns:a16="http://schemas.microsoft.com/office/drawing/2014/main" id="{CB759BE3-D7E8-4BB4-94DD-B6E66C09D463}"/>
              </a:ext>
            </a:extLst>
          </p:cNvPr>
          <p:cNvSpPr/>
          <p:nvPr/>
        </p:nvSpPr>
        <p:spPr>
          <a:xfrm>
            <a:off x="7920427" y="4006699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5" name="Arrow: Up 174">
            <a:extLst>
              <a:ext uri="{FF2B5EF4-FFF2-40B4-BE49-F238E27FC236}">
                <a16:creationId xmlns:a16="http://schemas.microsoft.com/office/drawing/2014/main" id="{9A7C8D74-38BB-432F-91FB-7540E8E3B635}"/>
              </a:ext>
            </a:extLst>
          </p:cNvPr>
          <p:cNvSpPr/>
          <p:nvPr/>
        </p:nvSpPr>
        <p:spPr>
          <a:xfrm>
            <a:off x="8543862" y="4006699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6" name="Arrow: Up 175">
            <a:extLst>
              <a:ext uri="{FF2B5EF4-FFF2-40B4-BE49-F238E27FC236}">
                <a16:creationId xmlns:a16="http://schemas.microsoft.com/office/drawing/2014/main" id="{58361282-A275-4EA1-92D8-3FE84C1C300B}"/>
              </a:ext>
            </a:extLst>
          </p:cNvPr>
          <p:cNvSpPr/>
          <p:nvPr/>
        </p:nvSpPr>
        <p:spPr>
          <a:xfrm>
            <a:off x="9075146" y="4005235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7" name="Arrow: Up 176">
            <a:extLst>
              <a:ext uri="{FF2B5EF4-FFF2-40B4-BE49-F238E27FC236}">
                <a16:creationId xmlns:a16="http://schemas.microsoft.com/office/drawing/2014/main" id="{72E61BAD-A4F6-401A-B4F3-A419567CD990}"/>
              </a:ext>
            </a:extLst>
          </p:cNvPr>
          <p:cNvSpPr/>
          <p:nvPr/>
        </p:nvSpPr>
        <p:spPr>
          <a:xfrm>
            <a:off x="9641430" y="4005235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8" name="Arrow: Up 177">
            <a:extLst>
              <a:ext uri="{FF2B5EF4-FFF2-40B4-BE49-F238E27FC236}">
                <a16:creationId xmlns:a16="http://schemas.microsoft.com/office/drawing/2014/main" id="{8BEADF94-D692-4FFF-AF4C-5B0F75558822}"/>
              </a:ext>
            </a:extLst>
          </p:cNvPr>
          <p:cNvSpPr/>
          <p:nvPr/>
        </p:nvSpPr>
        <p:spPr>
          <a:xfrm>
            <a:off x="10186563" y="4009632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9" name="Arrow: Up 178">
            <a:extLst>
              <a:ext uri="{FF2B5EF4-FFF2-40B4-BE49-F238E27FC236}">
                <a16:creationId xmlns:a16="http://schemas.microsoft.com/office/drawing/2014/main" id="{8688EB36-6468-42CD-A2FB-CAF1A70FE90C}"/>
              </a:ext>
            </a:extLst>
          </p:cNvPr>
          <p:cNvSpPr/>
          <p:nvPr/>
        </p:nvSpPr>
        <p:spPr>
          <a:xfrm>
            <a:off x="10744223" y="4008168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0" name="Arrow: Up 179">
            <a:extLst>
              <a:ext uri="{FF2B5EF4-FFF2-40B4-BE49-F238E27FC236}">
                <a16:creationId xmlns:a16="http://schemas.microsoft.com/office/drawing/2014/main" id="{19C90DB4-4847-46C1-9297-AAB87FD83F39}"/>
              </a:ext>
            </a:extLst>
          </p:cNvPr>
          <p:cNvSpPr/>
          <p:nvPr/>
        </p:nvSpPr>
        <p:spPr>
          <a:xfrm>
            <a:off x="11301720" y="4008168"/>
            <a:ext cx="457200" cy="386789"/>
          </a:xfrm>
          <a:prstGeom prst="up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DABAB1F-D06C-4FD8-A866-0A2D72FA6679}"/>
              </a:ext>
            </a:extLst>
          </p:cNvPr>
          <p:cNvSpPr/>
          <p:nvPr/>
        </p:nvSpPr>
        <p:spPr>
          <a:xfrm>
            <a:off x="6466765" y="3097605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47F2E9E-0713-4E03-B403-5C0FBEC67C44}"/>
              </a:ext>
            </a:extLst>
          </p:cNvPr>
          <p:cNvSpPr/>
          <p:nvPr/>
        </p:nvSpPr>
        <p:spPr>
          <a:xfrm>
            <a:off x="8490460" y="3113820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8435852E-F3E2-45EA-80CF-6B835B50755C}"/>
              </a:ext>
            </a:extLst>
          </p:cNvPr>
          <p:cNvSpPr/>
          <p:nvPr/>
        </p:nvSpPr>
        <p:spPr>
          <a:xfrm>
            <a:off x="10524425" y="3125545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FC0DEE73-E374-4436-B4E4-96006E6FE61A}"/>
              </a:ext>
            </a:extLst>
          </p:cNvPr>
          <p:cNvSpPr/>
          <p:nvPr/>
        </p:nvSpPr>
        <p:spPr>
          <a:xfrm>
            <a:off x="6478491" y="2287241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44B699D-CFAB-4481-84D5-2DFFF1F9B021}"/>
              </a:ext>
            </a:extLst>
          </p:cNvPr>
          <p:cNvSpPr/>
          <p:nvPr/>
        </p:nvSpPr>
        <p:spPr>
          <a:xfrm>
            <a:off x="8502186" y="2303456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D01BD3B7-1074-4632-BEF0-EE75753C7A67}"/>
              </a:ext>
            </a:extLst>
          </p:cNvPr>
          <p:cNvSpPr/>
          <p:nvPr/>
        </p:nvSpPr>
        <p:spPr>
          <a:xfrm>
            <a:off x="10536151" y="2315181"/>
            <a:ext cx="398284" cy="3286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F11339D-3B11-499C-81B5-DE99F453DFE0}"/>
                  </a:ext>
                </a:extLst>
              </p:cNvPr>
              <p:cNvSpPr txBox="1"/>
              <p:nvPr/>
            </p:nvSpPr>
            <p:spPr>
              <a:xfrm>
                <a:off x="6024853" y="4249102"/>
                <a:ext cx="2777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F11339D-3B11-499C-81B5-DE99F453D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853" y="4249102"/>
                <a:ext cx="277705" cy="276999"/>
              </a:xfrm>
              <a:prstGeom prst="rect">
                <a:avLst/>
              </a:prstGeom>
              <a:blipFill>
                <a:blip r:embed="rId17"/>
                <a:stretch>
                  <a:fillRect l="-13043" r="-8696" b="-17778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6584C1BB-C7FC-49AD-9707-DD36B2CA897F}"/>
                  </a:ext>
                </a:extLst>
              </p:cNvPr>
              <p:cNvSpPr txBox="1"/>
              <p:nvPr/>
            </p:nvSpPr>
            <p:spPr>
              <a:xfrm>
                <a:off x="6508431" y="4244702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6584C1BB-C7FC-49AD-9707-DD36B2CA8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431" y="4244702"/>
                <a:ext cx="283026" cy="276999"/>
              </a:xfrm>
              <a:prstGeom prst="rect">
                <a:avLst/>
              </a:prstGeom>
              <a:blipFill>
                <a:blip r:embed="rId18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831C0620-003C-476D-B920-C8B15291EE40}"/>
                  </a:ext>
                </a:extLst>
              </p:cNvPr>
              <p:cNvSpPr txBox="1"/>
              <p:nvPr/>
            </p:nvSpPr>
            <p:spPr>
              <a:xfrm>
                <a:off x="6509261" y="4244773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831C0620-003C-476D-B920-C8B15291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261" y="4244773"/>
                <a:ext cx="283026" cy="276999"/>
              </a:xfrm>
              <a:prstGeom prst="rect">
                <a:avLst/>
              </a:prstGeom>
              <a:blipFill>
                <a:blip r:embed="rId19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EE1BEAB-1A06-4B46-8591-9DBB414D875A}"/>
                  </a:ext>
                </a:extLst>
              </p:cNvPr>
              <p:cNvSpPr txBox="1"/>
              <p:nvPr/>
            </p:nvSpPr>
            <p:spPr>
              <a:xfrm>
                <a:off x="6978182" y="4238913"/>
                <a:ext cx="283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EE1BEAB-1A06-4B46-8591-9DBB414D8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182" y="4238913"/>
                <a:ext cx="283026" cy="276999"/>
              </a:xfrm>
              <a:prstGeom prst="rect">
                <a:avLst/>
              </a:prstGeom>
              <a:blipFill>
                <a:blip r:embed="rId20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06704A8-A2CD-48B3-9868-13BBD043B40F}"/>
                  </a:ext>
                </a:extLst>
              </p:cNvPr>
              <p:cNvSpPr txBox="1"/>
              <p:nvPr/>
            </p:nvSpPr>
            <p:spPr>
              <a:xfrm>
                <a:off x="7504252" y="4237452"/>
                <a:ext cx="2329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06704A8-A2CD-48B3-9868-13BBD043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252" y="4237452"/>
                <a:ext cx="232978" cy="276999"/>
              </a:xfrm>
              <a:prstGeom prst="rect">
                <a:avLst/>
              </a:prstGeom>
              <a:blipFill>
                <a:blip r:embed="rId21"/>
                <a:stretch>
                  <a:fillRect l="-23684" r="-21053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3661DB6-0F2F-47F4-8969-E417CF36FE70}"/>
                  </a:ext>
                </a:extLst>
              </p:cNvPr>
              <p:cNvSpPr txBox="1"/>
              <p:nvPr/>
            </p:nvSpPr>
            <p:spPr>
              <a:xfrm>
                <a:off x="7501949" y="4237452"/>
                <a:ext cx="2329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3661DB6-0F2F-47F4-8969-E417CF36F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949" y="4237452"/>
                <a:ext cx="232978" cy="276999"/>
              </a:xfrm>
              <a:prstGeom prst="rect">
                <a:avLst/>
              </a:prstGeom>
              <a:blipFill>
                <a:blip r:embed="rId22"/>
                <a:stretch>
                  <a:fillRect l="-23684" r="-18421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601454D2-4EC9-47A0-ACCE-D6BD9EB9FEF6}"/>
                  </a:ext>
                </a:extLst>
              </p:cNvPr>
              <p:cNvSpPr txBox="1"/>
              <p:nvPr/>
            </p:nvSpPr>
            <p:spPr>
              <a:xfrm>
                <a:off x="7945144" y="4326177"/>
                <a:ext cx="42202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ZA" sz="1400" dirty="0"/>
              </a:p>
            </p:txBody>
          </p:sp>
        </mc:Choice>
        <mc:Fallback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601454D2-4EC9-47A0-ACCE-D6BD9EB9F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144" y="4326177"/>
                <a:ext cx="422020" cy="215444"/>
              </a:xfrm>
              <a:prstGeom prst="rect">
                <a:avLst/>
              </a:prstGeom>
              <a:blipFill>
                <a:blip r:embed="rId23"/>
                <a:stretch>
                  <a:fillRect l="-8571" r="-2857" b="-1428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03F4B18-816C-4824-81DE-DF8973727851}"/>
                  </a:ext>
                </a:extLst>
              </p:cNvPr>
              <p:cNvSpPr txBox="1"/>
              <p:nvPr/>
            </p:nvSpPr>
            <p:spPr>
              <a:xfrm>
                <a:off x="8647881" y="4262366"/>
                <a:ext cx="2329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03F4B18-816C-4824-81DE-DF8973727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881" y="4262366"/>
                <a:ext cx="232978" cy="276999"/>
              </a:xfrm>
              <a:prstGeom prst="rect">
                <a:avLst/>
              </a:prstGeom>
              <a:blipFill>
                <a:blip r:embed="rId24"/>
                <a:stretch>
                  <a:fillRect l="-26316" r="-21053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Right Bracket 197">
            <a:extLst>
              <a:ext uri="{FF2B5EF4-FFF2-40B4-BE49-F238E27FC236}">
                <a16:creationId xmlns:a16="http://schemas.microsoft.com/office/drawing/2014/main" id="{C1491616-6A6C-42C2-B124-15F8C4D0A084}"/>
              </a:ext>
            </a:extLst>
          </p:cNvPr>
          <p:cNvSpPr/>
          <p:nvPr/>
        </p:nvSpPr>
        <p:spPr>
          <a:xfrm rot="16200000">
            <a:off x="7113131" y="273452"/>
            <a:ext cx="254746" cy="9618853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4A22AF5-5EAD-437E-839A-840053153A45}"/>
              </a:ext>
            </a:extLst>
          </p:cNvPr>
          <p:cNvCxnSpPr>
            <a:cxnSpLocks/>
          </p:cNvCxnSpPr>
          <p:nvPr/>
        </p:nvCxnSpPr>
        <p:spPr>
          <a:xfrm flipH="1" flipV="1">
            <a:off x="3130062" y="4099045"/>
            <a:ext cx="1741934" cy="855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DC2663C-DE3C-4DED-BE78-FC48B765A27D}"/>
              </a:ext>
            </a:extLst>
          </p:cNvPr>
          <p:cNvCxnSpPr>
            <a:cxnSpLocks/>
            <a:endCxn id="197" idx="2"/>
          </p:cNvCxnSpPr>
          <p:nvPr/>
        </p:nvCxnSpPr>
        <p:spPr>
          <a:xfrm flipV="1">
            <a:off x="8663242" y="4539365"/>
            <a:ext cx="101128" cy="423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CAD47DC-3EC2-4D9E-9DED-1708F2F5EDF3}"/>
                  </a:ext>
                </a:extLst>
              </p:cNvPr>
              <p:cNvSpPr txBox="1"/>
              <p:nvPr/>
            </p:nvSpPr>
            <p:spPr>
              <a:xfrm>
                <a:off x="9226707" y="4256509"/>
                <a:ext cx="2329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CAD47DC-3EC2-4D9E-9DED-1708F2F5E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707" y="4256509"/>
                <a:ext cx="232978" cy="276999"/>
              </a:xfrm>
              <a:prstGeom prst="rect">
                <a:avLst/>
              </a:prstGeom>
              <a:blipFill>
                <a:blip r:embed="rId25"/>
                <a:stretch>
                  <a:fillRect l="-26316" r="-21053" b="-1521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5218FE3-B02E-4DAD-A8BC-9F8CAA7E96BD}"/>
                  </a:ext>
                </a:extLst>
              </p:cNvPr>
              <p:cNvSpPr txBox="1"/>
              <p:nvPr/>
            </p:nvSpPr>
            <p:spPr>
              <a:xfrm>
                <a:off x="9633311" y="4323255"/>
                <a:ext cx="42202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0.02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ZA" sz="1400" dirty="0"/>
              </a:p>
            </p:txBody>
          </p:sp>
        </mc:Choice>
        <mc:Fallback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5218FE3-B02E-4DAD-A8BC-9F8CAA7E9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3311" y="4323255"/>
                <a:ext cx="422020" cy="215444"/>
              </a:xfrm>
              <a:prstGeom prst="rect">
                <a:avLst/>
              </a:prstGeom>
              <a:blipFill>
                <a:blip r:embed="rId26"/>
                <a:stretch>
                  <a:fillRect l="-14493" r="-28986" b="-1111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9C0BDB9-6A89-4F0A-B569-8C3D85D89CC3}"/>
                  </a:ext>
                </a:extLst>
              </p:cNvPr>
              <p:cNvSpPr txBox="1"/>
              <p:nvPr/>
            </p:nvSpPr>
            <p:spPr>
              <a:xfrm>
                <a:off x="10220928" y="4330585"/>
                <a:ext cx="42202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ZA" sz="1400" dirty="0"/>
              </a:p>
            </p:txBody>
          </p:sp>
        </mc:Choice>
        <mc:Fallback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9C0BDB9-6A89-4F0A-B569-8C3D85D89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928" y="4330585"/>
                <a:ext cx="422020" cy="215444"/>
              </a:xfrm>
              <a:prstGeom prst="rect">
                <a:avLst/>
              </a:prstGeom>
              <a:blipFill>
                <a:blip r:embed="rId27"/>
                <a:stretch>
                  <a:fillRect l="-13043" r="-7246" b="-1111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2AB0A0D-6A72-4065-963D-9FAFF5A8FF2F}"/>
                  </a:ext>
                </a:extLst>
              </p:cNvPr>
              <p:cNvSpPr txBox="1"/>
              <p:nvPr/>
            </p:nvSpPr>
            <p:spPr>
              <a:xfrm>
                <a:off x="10748471" y="4330584"/>
                <a:ext cx="42202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ZA" sz="1400" dirty="0"/>
              </a:p>
            </p:txBody>
          </p:sp>
        </mc:Choice>
        <mc:Fallback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2AB0A0D-6A72-4065-963D-9FAFF5A8F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471" y="4330584"/>
                <a:ext cx="422020" cy="215444"/>
              </a:xfrm>
              <a:prstGeom prst="rect">
                <a:avLst/>
              </a:prstGeom>
              <a:blipFill>
                <a:blip r:embed="rId28"/>
                <a:stretch>
                  <a:fillRect l="-14493" r="-21739" b="-1111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FF82E60-5BF1-44FE-8B8C-82FE8E03C44C}"/>
                  </a:ext>
                </a:extLst>
              </p:cNvPr>
              <p:cNvSpPr txBox="1"/>
              <p:nvPr/>
            </p:nvSpPr>
            <p:spPr>
              <a:xfrm>
                <a:off x="11332366" y="4335248"/>
                <a:ext cx="42202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ZA" sz="1400" dirty="0"/>
              </a:p>
            </p:txBody>
          </p:sp>
        </mc:Choice>
        <mc:Fallback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FF82E60-5BF1-44FE-8B8C-82FE8E03C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2366" y="4335248"/>
                <a:ext cx="422020" cy="215444"/>
              </a:xfrm>
              <a:prstGeom prst="rect">
                <a:avLst/>
              </a:prstGeom>
              <a:blipFill>
                <a:blip r:embed="rId29"/>
                <a:stretch>
                  <a:fillRect l="-14493" r="-21739" b="-1111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AD5D3DE6-C34D-4C5E-93C7-0DAC2C40FD96}"/>
              </a:ext>
            </a:extLst>
          </p:cNvPr>
          <p:cNvCxnSpPr>
            <a:cxnSpLocks/>
            <a:stCxn id="170" idx="0"/>
            <a:endCxn id="181" idx="4"/>
          </p:cNvCxnSpPr>
          <p:nvPr/>
        </p:nvCxnSpPr>
        <p:spPr>
          <a:xfrm flipV="1">
            <a:off x="6150219" y="3426215"/>
            <a:ext cx="515688" cy="5775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D9F118F8-C340-49F6-90E9-BD3E90F21935}"/>
              </a:ext>
            </a:extLst>
          </p:cNvPr>
          <p:cNvCxnSpPr>
            <a:cxnSpLocks/>
            <a:stCxn id="170" idx="0"/>
          </p:cNvCxnSpPr>
          <p:nvPr/>
        </p:nvCxnSpPr>
        <p:spPr>
          <a:xfrm flipV="1">
            <a:off x="6150219" y="3420451"/>
            <a:ext cx="2508611" cy="5833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01882D94-8B56-4F47-81FD-B18F88AEF44E}"/>
              </a:ext>
            </a:extLst>
          </p:cNvPr>
          <p:cNvCxnSpPr>
            <a:cxnSpLocks/>
            <a:stCxn id="170" idx="0"/>
            <a:endCxn id="185" idx="4"/>
          </p:cNvCxnSpPr>
          <p:nvPr/>
        </p:nvCxnSpPr>
        <p:spPr>
          <a:xfrm flipV="1">
            <a:off x="6150219" y="3454155"/>
            <a:ext cx="4573348" cy="549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6A5A0D8-8338-4414-8E86-54DDF9D4842E}"/>
              </a:ext>
            </a:extLst>
          </p:cNvPr>
          <p:cNvCxnSpPr>
            <a:cxnSpLocks/>
            <a:stCxn id="171" idx="0"/>
          </p:cNvCxnSpPr>
          <p:nvPr/>
        </p:nvCxnSpPr>
        <p:spPr>
          <a:xfrm flipV="1">
            <a:off x="6632977" y="3420357"/>
            <a:ext cx="31466" cy="583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1F17358C-8ED3-4F9E-ACCA-4E5397A2838B}"/>
              </a:ext>
            </a:extLst>
          </p:cNvPr>
          <p:cNvCxnSpPr>
            <a:cxnSpLocks/>
            <a:stCxn id="172" idx="0"/>
          </p:cNvCxnSpPr>
          <p:nvPr/>
        </p:nvCxnSpPr>
        <p:spPr>
          <a:xfrm flipH="1" flipV="1">
            <a:off x="6662980" y="3427265"/>
            <a:ext cx="444134" cy="575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116691B3-7FCF-4BD2-A4D5-778DA2B4D46C}"/>
              </a:ext>
            </a:extLst>
          </p:cNvPr>
          <p:cNvCxnSpPr>
            <a:cxnSpLocks/>
            <a:stCxn id="173" idx="0"/>
          </p:cNvCxnSpPr>
          <p:nvPr/>
        </p:nvCxnSpPr>
        <p:spPr>
          <a:xfrm flipH="1" flipV="1">
            <a:off x="6670704" y="3433491"/>
            <a:ext cx="958736" cy="568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3FD66469-6210-463E-9CCF-232A1CFA50BD}"/>
              </a:ext>
            </a:extLst>
          </p:cNvPr>
          <p:cNvCxnSpPr>
            <a:cxnSpLocks/>
            <a:stCxn id="174" idx="0"/>
          </p:cNvCxnSpPr>
          <p:nvPr/>
        </p:nvCxnSpPr>
        <p:spPr>
          <a:xfrm flipH="1" flipV="1">
            <a:off x="6638505" y="3420887"/>
            <a:ext cx="1510522" cy="585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513ABE0B-65FA-4C89-A832-78A218956363}"/>
              </a:ext>
            </a:extLst>
          </p:cNvPr>
          <p:cNvCxnSpPr>
            <a:cxnSpLocks/>
            <a:stCxn id="175" idx="0"/>
          </p:cNvCxnSpPr>
          <p:nvPr/>
        </p:nvCxnSpPr>
        <p:spPr>
          <a:xfrm flipH="1" flipV="1">
            <a:off x="6655196" y="3420287"/>
            <a:ext cx="2117266" cy="5864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23D0C9B-A377-4382-B925-5AE88F70CEF7}"/>
              </a:ext>
            </a:extLst>
          </p:cNvPr>
          <p:cNvCxnSpPr>
            <a:cxnSpLocks/>
            <a:stCxn id="176" idx="0"/>
          </p:cNvCxnSpPr>
          <p:nvPr/>
        </p:nvCxnSpPr>
        <p:spPr>
          <a:xfrm flipH="1" flipV="1">
            <a:off x="6658130" y="3427619"/>
            <a:ext cx="2645616" cy="5776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844D215-A80C-46E1-9D67-EF34CE99522D}"/>
              </a:ext>
            </a:extLst>
          </p:cNvPr>
          <p:cNvCxnSpPr>
            <a:cxnSpLocks/>
          </p:cNvCxnSpPr>
          <p:nvPr/>
        </p:nvCxnSpPr>
        <p:spPr>
          <a:xfrm flipH="1" flipV="1">
            <a:off x="6656088" y="3426881"/>
            <a:ext cx="2645616" cy="5776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3C315CC6-148F-4D10-B47E-ABA2A52805BD}"/>
              </a:ext>
            </a:extLst>
          </p:cNvPr>
          <p:cNvCxnSpPr>
            <a:cxnSpLocks/>
            <a:stCxn id="177" idx="0"/>
          </p:cNvCxnSpPr>
          <p:nvPr/>
        </p:nvCxnSpPr>
        <p:spPr>
          <a:xfrm flipH="1" flipV="1">
            <a:off x="6691692" y="3431019"/>
            <a:ext cx="3178338" cy="574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B79F1C41-B885-4887-9B78-6834D5A193F4}"/>
              </a:ext>
            </a:extLst>
          </p:cNvPr>
          <p:cNvCxnSpPr>
            <a:cxnSpLocks/>
            <a:stCxn id="178" idx="0"/>
          </p:cNvCxnSpPr>
          <p:nvPr/>
        </p:nvCxnSpPr>
        <p:spPr>
          <a:xfrm flipH="1" flipV="1">
            <a:off x="6664799" y="3422056"/>
            <a:ext cx="3750364" cy="587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A588BFF9-75F9-404A-8AE1-50BE626F52C3}"/>
              </a:ext>
            </a:extLst>
          </p:cNvPr>
          <p:cNvCxnSpPr>
            <a:cxnSpLocks/>
            <a:stCxn id="179" idx="0"/>
          </p:cNvCxnSpPr>
          <p:nvPr/>
        </p:nvCxnSpPr>
        <p:spPr>
          <a:xfrm flipH="1" flipV="1">
            <a:off x="6677633" y="3435862"/>
            <a:ext cx="4295190" cy="5723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A1758B47-E415-4D56-A951-F8E9FDE500EF}"/>
              </a:ext>
            </a:extLst>
          </p:cNvPr>
          <p:cNvCxnSpPr>
            <a:cxnSpLocks/>
            <a:stCxn id="180" idx="0"/>
          </p:cNvCxnSpPr>
          <p:nvPr/>
        </p:nvCxnSpPr>
        <p:spPr>
          <a:xfrm flipH="1" flipV="1">
            <a:off x="6699666" y="3444490"/>
            <a:ext cx="4830654" cy="5636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DEAD2110-B30D-43AB-AD3C-6A08D9048B02}"/>
              </a:ext>
            </a:extLst>
          </p:cNvPr>
          <p:cNvCxnSpPr>
            <a:cxnSpLocks/>
            <a:stCxn id="171" idx="0"/>
          </p:cNvCxnSpPr>
          <p:nvPr/>
        </p:nvCxnSpPr>
        <p:spPr>
          <a:xfrm flipV="1">
            <a:off x="6632977" y="3438815"/>
            <a:ext cx="2004095" cy="564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5EFD6D5-BA24-4A6F-85A0-347A767E52A8}"/>
              </a:ext>
            </a:extLst>
          </p:cNvPr>
          <p:cNvCxnSpPr>
            <a:cxnSpLocks/>
            <a:stCxn id="172" idx="0"/>
          </p:cNvCxnSpPr>
          <p:nvPr/>
        </p:nvCxnSpPr>
        <p:spPr>
          <a:xfrm flipV="1">
            <a:off x="7107114" y="3429981"/>
            <a:ext cx="1543512" cy="572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6745B7F9-ED14-4CD3-905A-0438C8E2405B}"/>
              </a:ext>
            </a:extLst>
          </p:cNvPr>
          <p:cNvCxnSpPr>
            <a:cxnSpLocks/>
            <a:stCxn id="173" idx="0"/>
          </p:cNvCxnSpPr>
          <p:nvPr/>
        </p:nvCxnSpPr>
        <p:spPr>
          <a:xfrm flipV="1">
            <a:off x="7629440" y="3457771"/>
            <a:ext cx="1002263" cy="5445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426BE0E8-C2C0-4B2B-8F2B-D3C9DA4C5CB0}"/>
              </a:ext>
            </a:extLst>
          </p:cNvPr>
          <p:cNvCxnSpPr>
            <a:cxnSpLocks/>
            <a:stCxn id="174" idx="0"/>
          </p:cNvCxnSpPr>
          <p:nvPr/>
        </p:nvCxnSpPr>
        <p:spPr>
          <a:xfrm flipV="1">
            <a:off x="8149027" y="3443425"/>
            <a:ext cx="515331" cy="563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C523C90-32DE-4EB7-92C2-45C1ED81889A}"/>
              </a:ext>
            </a:extLst>
          </p:cNvPr>
          <p:cNvCxnSpPr>
            <a:cxnSpLocks/>
          </p:cNvCxnSpPr>
          <p:nvPr/>
        </p:nvCxnSpPr>
        <p:spPr>
          <a:xfrm flipV="1">
            <a:off x="8149027" y="3444594"/>
            <a:ext cx="515331" cy="563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7AB2F614-1491-43CC-9982-E9C466FBCF2F}"/>
              </a:ext>
            </a:extLst>
          </p:cNvPr>
          <p:cNvCxnSpPr>
            <a:cxnSpLocks/>
            <a:stCxn id="175" idx="0"/>
            <a:endCxn id="182" idx="4"/>
          </p:cNvCxnSpPr>
          <p:nvPr/>
        </p:nvCxnSpPr>
        <p:spPr>
          <a:xfrm flipH="1" flipV="1">
            <a:off x="8689602" y="3442430"/>
            <a:ext cx="82860" cy="5642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3E999794-725F-4693-A224-9AD4E6C5EB0A}"/>
              </a:ext>
            </a:extLst>
          </p:cNvPr>
          <p:cNvCxnSpPr>
            <a:cxnSpLocks/>
            <a:stCxn id="176" idx="0"/>
            <a:endCxn id="182" idx="4"/>
          </p:cNvCxnSpPr>
          <p:nvPr/>
        </p:nvCxnSpPr>
        <p:spPr>
          <a:xfrm flipH="1" flipV="1">
            <a:off x="8689602" y="3442430"/>
            <a:ext cx="614144" cy="5628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7EB96BD5-570D-400B-8655-301164348645}"/>
              </a:ext>
            </a:extLst>
          </p:cNvPr>
          <p:cNvCxnSpPr>
            <a:cxnSpLocks/>
            <a:stCxn id="177" idx="0"/>
            <a:endCxn id="182" idx="4"/>
          </p:cNvCxnSpPr>
          <p:nvPr/>
        </p:nvCxnSpPr>
        <p:spPr>
          <a:xfrm flipH="1" flipV="1">
            <a:off x="8689602" y="3442430"/>
            <a:ext cx="1180428" cy="5628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93FFDC04-03E0-4880-8BB4-AF693A611878}"/>
              </a:ext>
            </a:extLst>
          </p:cNvPr>
          <p:cNvCxnSpPr>
            <a:cxnSpLocks/>
            <a:stCxn id="178" idx="0"/>
            <a:endCxn id="182" idx="4"/>
          </p:cNvCxnSpPr>
          <p:nvPr/>
        </p:nvCxnSpPr>
        <p:spPr>
          <a:xfrm flipH="1" flipV="1">
            <a:off x="8689602" y="3442430"/>
            <a:ext cx="1725561" cy="567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907B5E03-BDC9-4950-835E-2EA31FD38E16}"/>
              </a:ext>
            </a:extLst>
          </p:cNvPr>
          <p:cNvCxnSpPr>
            <a:cxnSpLocks/>
            <a:stCxn id="179" idx="0"/>
            <a:endCxn id="182" idx="4"/>
          </p:cNvCxnSpPr>
          <p:nvPr/>
        </p:nvCxnSpPr>
        <p:spPr>
          <a:xfrm flipH="1" flipV="1">
            <a:off x="8689602" y="3442430"/>
            <a:ext cx="2283221" cy="5657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97B940B-4099-4F18-9F3F-B7174510BE80}"/>
              </a:ext>
            </a:extLst>
          </p:cNvPr>
          <p:cNvCxnSpPr>
            <a:cxnSpLocks/>
            <a:stCxn id="180" idx="0"/>
            <a:endCxn id="182" idx="4"/>
          </p:cNvCxnSpPr>
          <p:nvPr/>
        </p:nvCxnSpPr>
        <p:spPr>
          <a:xfrm flipH="1" flipV="1">
            <a:off x="8689602" y="3442430"/>
            <a:ext cx="2840718" cy="5657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3E077C16-0717-4D39-B1A4-8D2FCC366734}"/>
              </a:ext>
            </a:extLst>
          </p:cNvPr>
          <p:cNvCxnSpPr>
            <a:cxnSpLocks/>
            <a:stCxn id="171" idx="0"/>
            <a:endCxn id="185" idx="4"/>
          </p:cNvCxnSpPr>
          <p:nvPr/>
        </p:nvCxnSpPr>
        <p:spPr>
          <a:xfrm flipV="1">
            <a:off x="6632977" y="3454155"/>
            <a:ext cx="4090590" cy="549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D115F62-12AC-4BCA-A99F-4715127D9AB5}"/>
              </a:ext>
            </a:extLst>
          </p:cNvPr>
          <p:cNvCxnSpPr>
            <a:cxnSpLocks/>
            <a:stCxn id="172" idx="0"/>
            <a:endCxn id="185" idx="4"/>
          </p:cNvCxnSpPr>
          <p:nvPr/>
        </p:nvCxnSpPr>
        <p:spPr>
          <a:xfrm flipV="1">
            <a:off x="7107114" y="3454155"/>
            <a:ext cx="3616453" cy="548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4A7242E5-86D8-4F86-8DE0-973517932ADA}"/>
              </a:ext>
            </a:extLst>
          </p:cNvPr>
          <p:cNvCxnSpPr>
            <a:cxnSpLocks/>
            <a:stCxn id="173" idx="0"/>
            <a:endCxn id="185" idx="4"/>
          </p:cNvCxnSpPr>
          <p:nvPr/>
        </p:nvCxnSpPr>
        <p:spPr>
          <a:xfrm flipV="1">
            <a:off x="7629440" y="3454155"/>
            <a:ext cx="3094127" cy="548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81E93907-0234-4C9C-9FDE-70B27BFE1E1F}"/>
              </a:ext>
            </a:extLst>
          </p:cNvPr>
          <p:cNvCxnSpPr>
            <a:cxnSpLocks/>
            <a:stCxn id="174" idx="0"/>
            <a:endCxn id="185" idx="4"/>
          </p:cNvCxnSpPr>
          <p:nvPr/>
        </p:nvCxnSpPr>
        <p:spPr>
          <a:xfrm flipV="1">
            <a:off x="8149027" y="3454155"/>
            <a:ext cx="2574540" cy="552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B28C2F1-1D92-46E3-8AD8-F446D7EB5C97}"/>
              </a:ext>
            </a:extLst>
          </p:cNvPr>
          <p:cNvCxnSpPr>
            <a:cxnSpLocks/>
            <a:stCxn id="175" idx="0"/>
            <a:endCxn id="185" idx="4"/>
          </p:cNvCxnSpPr>
          <p:nvPr/>
        </p:nvCxnSpPr>
        <p:spPr>
          <a:xfrm flipV="1">
            <a:off x="8772462" y="3454155"/>
            <a:ext cx="1951105" cy="552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B83A24E-A289-4AB8-9ABA-8A5B75C0381E}"/>
              </a:ext>
            </a:extLst>
          </p:cNvPr>
          <p:cNvCxnSpPr>
            <a:cxnSpLocks/>
            <a:stCxn id="176" idx="0"/>
            <a:endCxn id="185" idx="4"/>
          </p:cNvCxnSpPr>
          <p:nvPr/>
        </p:nvCxnSpPr>
        <p:spPr>
          <a:xfrm flipV="1">
            <a:off x="9303746" y="3454155"/>
            <a:ext cx="1419821" cy="551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F1F36701-2CCE-495D-8125-798B1560BF85}"/>
              </a:ext>
            </a:extLst>
          </p:cNvPr>
          <p:cNvCxnSpPr>
            <a:cxnSpLocks/>
            <a:stCxn id="177" idx="0"/>
            <a:endCxn id="185" idx="4"/>
          </p:cNvCxnSpPr>
          <p:nvPr/>
        </p:nvCxnSpPr>
        <p:spPr>
          <a:xfrm flipV="1">
            <a:off x="9870030" y="3454155"/>
            <a:ext cx="853537" cy="551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C2A3EB7-483E-4269-845C-809942015CFB}"/>
              </a:ext>
            </a:extLst>
          </p:cNvPr>
          <p:cNvCxnSpPr>
            <a:cxnSpLocks/>
            <a:stCxn id="178" idx="0"/>
            <a:endCxn id="185" idx="4"/>
          </p:cNvCxnSpPr>
          <p:nvPr/>
        </p:nvCxnSpPr>
        <p:spPr>
          <a:xfrm flipV="1">
            <a:off x="10415163" y="3454155"/>
            <a:ext cx="308404" cy="555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D2D4A4CD-A238-4796-9B9A-39A7AEE088D1}"/>
              </a:ext>
            </a:extLst>
          </p:cNvPr>
          <p:cNvCxnSpPr>
            <a:cxnSpLocks/>
            <a:stCxn id="179" idx="0"/>
            <a:endCxn id="185" idx="4"/>
          </p:cNvCxnSpPr>
          <p:nvPr/>
        </p:nvCxnSpPr>
        <p:spPr>
          <a:xfrm flipH="1" flipV="1">
            <a:off x="10723567" y="3454155"/>
            <a:ext cx="249256" cy="55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AAF62420-C01C-4D2F-9F90-6470C0970EA3}"/>
              </a:ext>
            </a:extLst>
          </p:cNvPr>
          <p:cNvCxnSpPr>
            <a:cxnSpLocks/>
            <a:stCxn id="180" idx="0"/>
            <a:endCxn id="185" idx="4"/>
          </p:cNvCxnSpPr>
          <p:nvPr/>
        </p:nvCxnSpPr>
        <p:spPr>
          <a:xfrm flipH="1" flipV="1">
            <a:off x="10723567" y="3454155"/>
            <a:ext cx="806753" cy="55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B59A63ED-096C-4F80-8AFF-CACBE8ADA199}"/>
              </a:ext>
            </a:extLst>
          </p:cNvPr>
          <p:cNvCxnSpPr>
            <a:cxnSpLocks/>
            <a:stCxn id="186" idx="4"/>
            <a:endCxn id="181" idx="0"/>
          </p:cNvCxnSpPr>
          <p:nvPr/>
        </p:nvCxnSpPr>
        <p:spPr>
          <a:xfrm flipH="1">
            <a:off x="6665907" y="2615851"/>
            <a:ext cx="11726" cy="481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FF9BB850-4B1A-4C89-A90D-F9614C58AE40}"/>
              </a:ext>
            </a:extLst>
          </p:cNvPr>
          <p:cNvCxnSpPr>
            <a:cxnSpLocks/>
            <a:stCxn id="187" idx="4"/>
            <a:endCxn id="181" idx="0"/>
          </p:cNvCxnSpPr>
          <p:nvPr/>
        </p:nvCxnSpPr>
        <p:spPr>
          <a:xfrm flipH="1">
            <a:off x="6665907" y="2632066"/>
            <a:ext cx="2035421" cy="465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B6561F22-8D09-4697-8277-E00A60C78063}"/>
              </a:ext>
            </a:extLst>
          </p:cNvPr>
          <p:cNvCxnSpPr>
            <a:cxnSpLocks/>
            <a:endCxn id="181" idx="0"/>
          </p:cNvCxnSpPr>
          <p:nvPr/>
        </p:nvCxnSpPr>
        <p:spPr>
          <a:xfrm flipH="1">
            <a:off x="6665907" y="2643985"/>
            <a:ext cx="4108302" cy="453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A279DC2B-D5CA-4513-8848-6972FDEDCC2F}"/>
              </a:ext>
            </a:extLst>
          </p:cNvPr>
          <p:cNvCxnSpPr>
            <a:cxnSpLocks/>
          </p:cNvCxnSpPr>
          <p:nvPr/>
        </p:nvCxnSpPr>
        <p:spPr>
          <a:xfrm flipH="1">
            <a:off x="6662980" y="2643262"/>
            <a:ext cx="4108302" cy="453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5BAC9BF2-31D1-40AA-9215-78FB9388AF79}"/>
              </a:ext>
            </a:extLst>
          </p:cNvPr>
          <p:cNvCxnSpPr>
            <a:cxnSpLocks/>
            <a:stCxn id="182" idx="0"/>
            <a:endCxn id="186" idx="4"/>
          </p:cNvCxnSpPr>
          <p:nvPr/>
        </p:nvCxnSpPr>
        <p:spPr>
          <a:xfrm flipH="1" flipV="1">
            <a:off x="6677633" y="2615851"/>
            <a:ext cx="2011969" cy="4979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A62D785F-AF9D-4428-93D1-0C1DF4817885}"/>
              </a:ext>
            </a:extLst>
          </p:cNvPr>
          <p:cNvCxnSpPr>
            <a:cxnSpLocks/>
            <a:stCxn id="182" idx="0"/>
            <a:endCxn id="187" idx="4"/>
          </p:cNvCxnSpPr>
          <p:nvPr/>
        </p:nvCxnSpPr>
        <p:spPr>
          <a:xfrm flipV="1">
            <a:off x="8689602" y="2632066"/>
            <a:ext cx="11726" cy="481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F4523D82-B8C8-44AD-86C2-11DC00B42882}"/>
              </a:ext>
            </a:extLst>
          </p:cNvPr>
          <p:cNvCxnSpPr>
            <a:cxnSpLocks/>
            <a:stCxn id="182" idx="0"/>
            <a:endCxn id="188" idx="4"/>
          </p:cNvCxnSpPr>
          <p:nvPr/>
        </p:nvCxnSpPr>
        <p:spPr>
          <a:xfrm flipV="1">
            <a:off x="8689602" y="2643791"/>
            <a:ext cx="2045691" cy="470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20B2EB70-62B4-4C65-9E37-1C82EF26397D}"/>
              </a:ext>
            </a:extLst>
          </p:cNvPr>
          <p:cNvCxnSpPr>
            <a:cxnSpLocks/>
            <a:stCxn id="185" idx="0"/>
            <a:endCxn id="187" idx="4"/>
          </p:cNvCxnSpPr>
          <p:nvPr/>
        </p:nvCxnSpPr>
        <p:spPr>
          <a:xfrm flipH="1" flipV="1">
            <a:off x="8701328" y="2632066"/>
            <a:ext cx="2022239" cy="493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0BF77690-9F39-41AB-97A4-9829D4033A96}"/>
              </a:ext>
            </a:extLst>
          </p:cNvPr>
          <p:cNvCxnSpPr>
            <a:cxnSpLocks/>
            <a:stCxn id="185" idx="0"/>
            <a:endCxn id="188" idx="4"/>
          </p:cNvCxnSpPr>
          <p:nvPr/>
        </p:nvCxnSpPr>
        <p:spPr>
          <a:xfrm flipV="1">
            <a:off x="10723567" y="2643791"/>
            <a:ext cx="11726" cy="481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CAA7A2A0-43CC-498B-9B67-863AF8E9CD78}"/>
              </a:ext>
            </a:extLst>
          </p:cNvPr>
          <p:cNvCxnSpPr>
            <a:cxnSpLocks/>
            <a:stCxn id="185" idx="0"/>
            <a:endCxn id="186" idx="4"/>
          </p:cNvCxnSpPr>
          <p:nvPr/>
        </p:nvCxnSpPr>
        <p:spPr>
          <a:xfrm flipH="1" flipV="1">
            <a:off x="6677633" y="2615851"/>
            <a:ext cx="4045934" cy="509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4" name="TextBox 333">
            <a:extLst>
              <a:ext uri="{FF2B5EF4-FFF2-40B4-BE49-F238E27FC236}">
                <a16:creationId xmlns:a16="http://schemas.microsoft.com/office/drawing/2014/main" id="{681F1E4D-1002-43A8-A19C-5649B2C04AF0}"/>
              </a:ext>
            </a:extLst>
          </p:cNvPr>
          <p:cNvSpPr txBox="1"/>
          <p:nvPr/>
        </p:nvSpPr>
        <p:spPr>
          <a:xfrm>
            <a:off x="7318130" y="4620721"/>
            <a:ext cx="3491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Latent vectors &amp; raw input data to neural network</a:t>
            </a:r>
            <a:endParaRPr lang="en-ZA" sz="1200" dirty="0">
              <a:solidFill>
                <a:srgbClr val="FF0000"/>
              </a:solidFill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9823053-7CFA-45A9-98BB-FDB0434F9F40}"/>
              </a:ext>
            </a:extLst>
          </p:cNvPr>
          <p:cNvSpPr txBox="1"/>
          <p:nvPr/>
        </p:nvSpPr>
        <p:spPr>
          <a:xfrm>
            <a:off x="1739634" y="4459272"/>
            <a:ext cx="377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Latent vectors &amp; raw input data to factorization machine</a:t>
            </a:r>
            <a:endParaRPr lang="en-ZA" sz="1200" dirty="0">
              <a:solidFill>
                <a:srgbClr val="FF0000"/>
              </a:solidFill>
            </a:endParaRPr>
          </a:p>
        </p:txBody>
      </p: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85A21A0F-EB12-4CE6-A95B-CE410C1E191C}"/>
              </a:ext>
            </a:extLst>
          </p:cNvPr>
          <p:cNvCxnSpPr>
            <a:cxnSpLocks/>
            <a:stCxn id="186" idx="0"/>
          </p:cNvCxnSpPr>
          <p:nvPr/>
        </p:nvCxnSpPr>
        <p:spPr>
          <a:xfrm flipH="1" flipV="1">
            <a:off x="6168557" y="1661205"/>
            <a:ext cx="509076" cy="62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A520FB2F-54EC-4B04-86BD-CF52DCEB1581}"/>
              </a:ext>
            </a:extLst>
          </p:cNvPr>
          <p:cNvCxnSpPr>
            <a:cxnSpLocks/>
          </p:cNvCxnSpPr>
          <p:nvPr/>
        </p:nvCxnSpPr>
        <p:spPr>
          <a:xfrm flipH="1" flipV="1">
            <a:off x="6516216" y="1595642"/>
            <a:ext cx="2197591" cy="698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F88CD6F7-3122-4EA5-9447-53FDEFED4F39}"/>
              </a:ext>
            </a:extLst>
          </p:cNvPr>
          <p:cNvCxnSpPr>
            <a:cxnSpLocks/>
            <a:stCxn id="188" idx="0"/>
          </p:cNvCxnSpPr>
          <p:nvPr/>
        </p:nvCxnSpPr>
        <p:spPr>
          <a:xfrm flipH="1" flipV="1">
            <a:off x="6516833" y="1505647"/>
            <a:ext cx="4218460" cy="80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B01B810-84E3-42C3-94E0-B079016035A3}"/>
                  </a:ext>
                </a:extLst>
              </p:cNvPr>
              <p:cNvSpPr txBox="1"/>
              <p:nvPr/>
            </p:nvSpPr>
            <p:spPr>
              <a:xfrm>
                <a:off x="5932652" y="1313768"/>
                <a:ext cx="61709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𝑫𝒆𝒆𝒑</m:t>
                          </m:r>
                        </m:sub>
                      </m:sSub>
                    </m:oMath>
                  </m:oMathPara>
                </a14:m>
                <a:endParaRPr lang="en-ZA" b="1" dirty="0">
                  <a:solidFill>
                    <a:srgbClr val="C55A11"/>
                  </a:solidFill>
                </a:endParaRPr>
              </a:p>
            </p:txBody>
          </p:sp>
        </mc:Choice>
        <mc:Fallback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B01B810-84E3-42C3-94E0-B07901603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652" y="1313768"/>
                <a:ext cx="617092" cy="301878"/>
              </a:xfrm>
              <a:prstGeom prst="rect">
                <a:avLst/>
              </a:prstGeom>
              <a:blipFill>
                <a:blip r:embed="rId30"/>
                <a:stretch>
                  <a:fillRect l="-8911" t="-22449" r="-7921" b="-2857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35231C7C-9536-48A9-B436-43E1152E00AF}"/>
                  </a:ext>
                </a:extLst>
              </p:cNvPr>
              <p:cNvSpPr txBox="1"/>
              <p:nvPr/>
            </p:nvSpPr>
            <p:spPr>
              <a:xfrm>
                <a:off x="757362" y="3236315"/>
                <a:ext cx="66609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ZA" sz="12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35231C7C-9536-48A9-B436-43E1152E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62" y="3236315"/>
                <a:ext cx="666094" cy="184666"/>
              </a:xfrm>
              <a:prstGeom prst="rect">
                <a:avLst/>
              </a:prstGeom>
              <a:blipFill>
                <a:blip r:embed="rId3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723D41E-6422-4E9A-AAD3-D037BE747CC5}"/>
                  </a:ext>
                </a:extLst>
              </p:cNvPr>
              <p:cNvSpPr txBox="1"/>
              <p:nvPr/>
            </p:nvSpPr>
            <p:spPr>
              <a:xfrm>
                <a:off x="1553532" y="2155080"/>
                <a:ext cx="2276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          +              ) 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723D41E-6422-4E9A-AAD3-D037BE747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532" y="2155080"/>
                <a:ext cx="2276264" cy="276999"/>
              </a:xfrm>
              <a:prstGeom prst="rect">
                <a:avLst/>
              </a:prstGeom>
              <a:blipFill>
                <a:blip r:embed="rId32"/>
                <a:stretch>
                  <a:fillRect l="-2145" t="-26667" r="-1072" b="-3555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3ADDD4A-335F-4B3E-B1BC-6B20BC2A8EA9}"/>
                  </a:ext>
                </a:extLst>
              </p:cNvPr>
              <p:cNvSpPr txBox="1"/>
              <p:nvPr/>
            </p:nvSpPr>
            <p:spPr>
              <a:xfrm>
                <a:off x="2298961" y="2172696"/>
                <a:ext cx="5385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b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US" sz="16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𝐅𝐌</m:t>
                          </m:r>
                        </m:sub>
                      </m:sSub>
                    </m:oMath>
                  </m:oMathPara>
                </a14:m>
                <a:endParaRPr lang="en-ZA" sz="16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3ADDD4A-335F-4B3E-B1BC-6B20BC2A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61" y="2172696"/>
                <a:ext cx="538533" cy="246221"/>
              </a:xfrm>
              <a:prstGeom prst="rect">
                <a:avLst/>
              </a:prstGeom>
              <a:blipFill>
                <a:blip r:embed="rId33"/>
                <a:stretch>
                  <a:fillRect t="-14634" r="-3409" b="-2439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2723F1BA-C739-4F84-BED9-731D4EB4A799}"/>
                  </a:ext>
                </a:extLst>
              </p:cNvPr>
              <p:cNvSpPr txBox="1"/>
              <p:nvPr/>
            </p:nvSpPr>
            <p:spPr>
              <a:xfrm>
                <a:off x="5933568" y="1313485"/>
                <a:ext cx="61709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𝑫𝒆𝒆𝒑</m:t>
                          </m:r>
                        </m:sub>
                      </m:sSub>
                    </m:oMath>
                  </m:oMathPara>
                </a14:m>
                <a:endParaRPr lang="en-ZA" b="1" dirty="0">
                  <a:solidFill>
                    <a:srgbClr val="C55A11"/>
                  </a:solidFill>
                </a:endParaRPr>
              </a:p>
            </p:txBody>
          </p:sp>
        </mc:Choice>
        <mc:Fallback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2723F1BA-C739-4F84-BED9-731D4EB4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68" y="1313485"/>
                <a:ext cx="617092" cy="301878"/>
              </a:xfrm>
              <a:prstGeom prst="rect">
                <a:avLst/>
              </a:prstGeom>
              <a:blipFill>
                <a:blip r:embed="rId34"/>
                <a:stretch>
                  <a:fillRect l="-8824" t="-20000" r="-6863" b="-260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2ECAE5D-3A8B-4BDD-920D-A8D7A95C6292}"/>
                  </a:ext>
                </a:extLst>
              </p:cNvPr>
              <p:cNvSpPr txBox="1"/>
              <p:nvPr/>
            </p:nvSpPr>
            <p:spPr>
              <a:xfrm>
                <a:off x="2981644" y="2162639"/>
                <a:ext cx="61709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𝑫𝒆𝒆𝒑</m:t>
                          </m:r>
                        </m:sub>
                      </m:sSub>
                    </m:oMath>
                  </m:oMathPara>
                </a14:m>
                <a:endParaRPr lang="en-ZA" b="1" dirty="0">
                  <a:solidFill>
                    <a:srgbClr val="C55A11"/>
                  </a:solidFill>
                </a:endParaRPr>
              </a:p>
            </p:txBody>
          </p:sp>
        </mc:Choice>
        <mc:Fallback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2ECAE5D-3A8B-4BDD-920D-A8D7A95C6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644" y="2162639"/>
                <a:ext cx="617092" cy="301878"/>
              </a:xfrm>
              <a:prstGeom prst="rect">
                <a:avLst/>
              </a:prstGeom>
              <a:blipFill>
                <a:blip r:embed="rId35"/>
                <a:stretch>
                  <a:fillRect l="-8911" t="-22449" r="-7921" b="-2857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TextBox 353">
            <a:extLst>
              <a:ext uri="{FF2B5EF4-FFF2-40B4-BE49-F238E27FC236}">
                <a16:creationId xmlns:a16="http://schemas.microsoft.com/office/drawing/2014/main" id="{26DB79C2-5C7D-4D5F-8ADC-61597CEB0152}"/>
              </a:ext>
            </a:extLst>
          </p:cNvPr>
          <p:cNvSpPr txBox="1"/>
          <p:nvPr/>
        </p:nvSpPr>
        <p:spPr>
          <a:xfrm>
            <a:off x="1363952" y="1847507"/>
            <a:ext cx="315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FINAL MODEL PREDICTION</a:t>
            </a:r>
            <a:endParaRPr lang="en-ZA" u="sng" dirty="0"/>
          </a:p>
        </p:txBody>
      </p: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C34D7A5F-A3AA-471A-9343-3D094E1B9033}"/>
              </a:ext>
            </a:extLst>
          </p:cNvPr>
          <p:cNvCxnSpPr>
            <a:stCxn id="74" idx="0"/>
          </p:cNvCxnSpPr>
          <p:nvPr/>
        </p:nvCxnSpPr>
        <p:spPr>
          <a:xfrm flipV="1">
            <a:off x="645134" y="2528047"/>
            <a:ext cx="908398" cy="63869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5E5557F8-8E91-4817-B863-4872F1C3487F}"/>
              </a:ext>
            </a:extLst>
          </p:cNvPr>
          <p:cNvCxnSpPr>
            <a:cxnSpLocks/>
          </p:cNvCxnSpPr>
          <p:nvPr/>
        </p:nvCxnSpPr>
        <p:spPr>
          <a:xfrm flipH="1">
            <a:off x="4182587" y="1513558"/>
            <a:ext cx="1712261" cy="611333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0541D36E-4DDB-43FD-852D-6835C3E15113}"/>
              </a:ext>
            </a:extLst>
          </p:cNvPr>
          <p:cNvCxnSpPr>
            <a:cxnSpLocks/>
          </p:cNvCxnSpPr>
          <p:nvPr/>
        </p:nvCxnSpPr>
        <p:spPr>
          <a:xfrm flipH="1" flipV="1">
            <a:off x="1051434" y="1758620"/>
            <a:ext cx="987315" cy="48964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2D1319AF-5CFB-4B48-8FEA-AD4267B8EA5F}"/>
              </a:ext>
            </a:extLst>
          </p:cNvPr>
          <p:cNvSpPr txBox="1"/>
          <p:nvPr/>
        </p:nvSpPr>
        <p:spPr>
          <a:xfrm>
            <a:off x="125045" y="1607649"/>
            <a:ext cx="1886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sigmoid function</a:t>
            </a:r>
            <a:endParaRPr lang="en-ZA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90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Internal Storage 16">
            <a:extLst>
              <a:ext uri="{FF2B5EF4-FFF2-40B4-BE49-F238E27FC236}">
                <a16:creationId xmlns:a16="http://schemas.microsoft.com/office/drawing/2014/main" id="{BE898B63-574C-4A62-AF1E-8E7453728568}"/>
              </a:ext>
            </a:extLst>
          </p:cNvPr>
          <p:cNvSpPr/>
          <p:nvPr/>
        </p:nvSpPr>
        <p:spPr>
          <a:xfrm>
            <a:off x="2522220" y="3134360"/>
            <a:ext cx="962660" cy="802640"/>
          </a:xfrm>
          <a:prstGeom prst="flowChartInternalStorag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C8372E-035F-46D6-9384-B0CE80C57AD4}"/>
              </a:ext>
            </a:extLst>
          </p:cNvPr>
          <p:cNvSpPr/>
          <p:nvPr/>
        </p:nvSpPr>
        <p:spPr>
          <a:xfrm>
            <a:off x="6510253" y="1056640"/>
            <a:ext cx="508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868859-125C-4978-8789-4FBA366B09EF}"/>
              </a:ext>
            </a:extLst>
          </p:cNvPr>
          <p:cNvSpPr/>
          <p:nvPr/>
        </p:nvSpPr>
        <p:spPr>
          <a:xfrm>
            <a:off x="6510253" y="2331720"/>
            <a:ext cx="508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55BE45-DBE5-4A55-86CE-B0D2337759E3}"/>
              </a:ext>
            </a:extLst>
          </p:cNvPr>
          <p:cNvSpPr/>
          <p:nvPr/>
        </p:nvSpPr>
        <p:spPr>
          <a:xfrm>
            <a:off x="6510253" y="3591560"/>
            <a:ext cx="508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1ABC36-5575-4F66-A0D5-2406342A713C}"/>
              </a:ext>
            </a:extLst>
          </p:cNvPr>
          <p:cNvSpPr/>
          <p:nvPr/>
        </p:nvSpPr>
        <p:spPr>
          <a:xfrm>
            <a:off x="6510253" y="4688840"/>
            <a:ext cx="508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334880-A8FA-4607-BC4F-DF4E7A701483}"/>
              </a:ext>
            </a:extLst>
          </p:cNvPr>
          <p:cNvSpPr/>
          <p:nvPr/>
        </p:nvSpPr>
        <p:spPr>
          <a:xfrm>
            <a:off x="6540733" y="5867400"/>
            <a:ext cx="508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50F0F-C7F5-45C3-8010-E50D0FF707EF}"/>
              </a:ext>
            </a:extLst>
          </p:cNvPr>
          <p:cNvSpPr txBox="1"/>
          <p:nvPr/>
        </p:nvSpPr>
        <p:spPr>
          <a:xfrm rot="5400000">
            <a:off x="-934720" y="3970253"/>
            <a:ext cx="39776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[ 0 0 0 1 0 0 0 0 0 0 ]</a:t>
            </a:r>
            <a:endParaRPr lang="en-ZA" sz="25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B97B2D5-3561-4B07-831F-1DB2CC91BBBD}"/>
              </a:ext>
            </a:extLst>
          </p:cNvPr>
          <p:cNvSpPr/>
          <p:nvPr/>
        </p:nvSpPr>
        <p:spPr>
          <a:xfrm>
            <a:off x="2194560" y="3251200"/>
            <a:ext cx="1849120" cy="614680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39D6FA5-32F3-4477-9F8B-A6498CE53914}"/>
              </a:ext>
            </a:extLst>
          </p:cNvPr>
          <p:cNvSpPr/>
          <p:nvPr/>
        </p:nvSpPr>
        <p:spPr>
          <a:xfrm>
            <a:off x="4043680" y="2781300"/>
            <a:ext cx="477054" cy="1554480"/>
          </a:xfrm>
          <a:prstGeom prst="leftBrace">
            <a:avLst>
              <a:gd name="adj1" fmla="val 43474"/>
              <a:gd name="adj2" fmla="val 5000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261C00-FBA1-4E2E-81CE-AE3D845C6EAD}"/>
              </a:ext>
            </a:extLst>
          </p:cNvPr>
          <p:cNvSpPr txBox="1"/>
          <p:nvPr/>
        </p:nvSpPr>
        <p:spPr>
          <a:xfrm>
            <a:off x="2522220" y="3373874"/>
            <a:ext cx="139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10413F-1EF7-4C0B-9C6F-952084479311}"/>
              </a:ext>
            </a:extLst>
          </p:cNvPr>
          <p:cNvSpPr txBox="1"/>
          <p:nvPr/>
        </p:nvSpPr>
        <p:spPr>
          <a:xfrm>
            <a:off x="121920" y="456475"/>
            <a:ext cx="19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</a:t>
            </a:r>
          </a:p>
          <a:p>
            <a:r>
              <a:rPr lang="en-US" dirty="0"/>
              <a:t>Represented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1-hot vector</a:t>
            </a:r>
            <a:endParaRPr lang="en-Z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5F4F04-5672-4974-83BC-38F14741FF74}"/>
              </a:ext>
            </a:extLst>
          </p:cNvPr>
          <p:cNvSpPr txBox="1"/>
          <p:nvPr/>
        </p:nvSpPr>
        <p:spPr>
          <a:xfrm>
            <a:off x="4241800" y="624115"/>
            <a:ext cx="1940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represented</a:t>
            </a:r>
          </a:p>
          <a:p>
            <a:r>
              <a:rPr lang="en-US" dirty="0"/>
              <a:t>as latent </a:t>
            </a:r>
          </a:p>
          <a:p>
            <a:r>
              <a:rPr lang="en-US" dirty="0"/>
              <a:t>vector (input to </a:t>
            </a:r>
          </a:p>
          <a:p>
            <a:r>
              <a:rPr lang="en-US" dirty="0"/>
              <a:t>network)</a:t>
            </a:r>
            <a:endParaRPr lang="en-ZA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6D09B0F-927E-429E-B03F-F850D0EF892B}"/>
              </a:ext>
            </a:extLst>
          </p:cNvPr>
          <p:cNvSpPr/>
          <p:nvPr/>
        </p:nvSpPr>
        <p:spPr>
          <a:xfrm>
            <a:off x="8791173" y="3220720"/>
            <a:ext cx="508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177BB8-B362-4DF4-9E4D-905000309CAA}"/>
              </a:ext>
            </a:extLst>
          </p:cNvPr>
          <p:cNvSpPr txBox="1"/>
          <p:nvPr/>
        </p:nvSpPr>
        <p:spPr>
          <a:xfrm>
            <a:off x="2341647" y="624115"/>
            <a:ext cx="19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</a:t>
            </a:r>
            <a:endParaRPr lang="en-ZA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3E79E8-4AE7-4E61-994C-31B34134E796}"/>
              </a:ext>
            </a:extLst>
          </p:cNvPr>
          <p:cNvSpPr txBox="1"/>
          <p:nvPr/>
        </p:nvSpPr>
        <p:spPr>
          <a:xfrm rot="5400000">
            <a:off x="2821241" y="4006538"/>
            <a:ext cx="39776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[  0.74            1.92  ]</a:t>
            </a:r>
            <a:endParaRPr lang="en-ZA" sz="2500" dirty="0"/>
          </a:p>
        </p:txBody>
      </p:sp>
    </p:spTree>
    <p:extLst>
      <p:ext uri="{BB962C8B-B14F-4D97-AF65-F5344CB8AC3E}">
        <p14:creationId xmlns:p14="http://schemas.microsoft.com/office/powerpoint/2010/main" val="302888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7154</TotalTime>
  <Words>430</Words>
  <Application>Microsoft Office PowerPoint</Application>
  <PresentationFormat>Widescreen</PresentationFormat>
  <Paragraphs>94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Illustration of Wide &amp; Deep Structure</vt:lpstr>
      <vt:lpstr>Illustration of deepFM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Bolton</dc:creator>
  <cp:lastModifiedBy>Joseph Bolton</cp:lastModifiedBy>
  <cp:revision>105</cp:revision>
  <dcterms:created xsi:type="dcterms:W3CDTF">2020-11-16T09:04:18Z</dcterms:created>
  <dcterms:modified xsi:type="dcterms:W3CDTF">2020-11-21T08:19:12Z</dcterms:modified>
</cp:coreProperties>
</file>