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87" d="100"/>
          <a:sy n="87" d="100"/>
        </p:scale>
        <p:origin x="533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02FEC-2DBA-4422-A7C3-8DAD46604F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9AAD05-BBFE-4046-A0E1-56F788841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07554-D755-4706-9304-3A9EF479D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68F90-4F4E-4A45-9DB7-8E580B6C92F7}" type="datetimeFigureOut">
              <a:rPr lang="en-ZA" smtClean="0"/>
              <a:t>19/01/2021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3AFF2-D10A-4FBF-8A3E-498E61C10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14A5F-9EEE-4740-9A47-912CE2986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AA07E-DE05-40DA-971C-77D9E6EC55F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40034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C748B-82DE-4013-ADCF-69872CEFF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CD143-9BF0-4922-8DD1-6FE1F9E8E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B1EA3-EE7B-4D24-8107-4BDF423CB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68F90-4F4E-4A45-9DB7-8E580B6C92F7}" type="datetimeFigureOut">
              <a:rPr lang="en-ZA" smtClean="0"/>
              <a:t>19/01/2021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73C79-4E67-4479-B6F6-E535A92A1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EED4A-AD42-4F15-B9BD-B0CD62CE4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AA07E-DE05-40DA-971C-77D9E6EC55F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861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D31B-21E4-42FE-A094-FD080FAEB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9D665F-A77C-4ABB-A063-053D0938B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97B82-3B34-4849-97EE-52AE052F9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68F90-4F4E-4A45-9DB7-8E580B6C92F7}" type="datetimeFigureOut">
              <a:rPr lang="en-ZA" smtClean="0"/>
              <a:t>19/01/2021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5F4F3-434A-4FB3-9363-E179C698B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198B3-B99F-442A-8550-5BF6D2156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AA07E-DE05-40DA-971C-77D9E6EC55F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71992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20A0D-634E-4840-93B4-C5ED226C3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FE9A3-22F9-467E-8367-412B360D17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284CFA-CBB0-4D2D-985F-8893F7BACF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C1037-F1E2-4E66-8AE6-F3342A49A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68F90-4F4E-4A45-9DB7-8E580B6C92F7}" type="datetimeFigureOut">
              <a:rPr lang="en-ZA" smtClean="0"/>
              <a:t>19/01/2021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8BE8C5-47F2-497F-8A54-7A7AA4499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B743EF-BD95-4E81-B6DA-DD56E1EFD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AA07E-DE05-40DA-971C-77D9E6EC55F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1391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57F7B-DA9C-4E01-9261-89217F1A2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BAEC90-7A38-477D-A5A7-124384399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016A25-7F31-42E9-B386-F5660C809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307A55-E747-4BE0-94B5-626617A667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0F6F03-AD2E-4688-9FB3-105F1C6A9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970F9A-737B-4DC9-A17A-44427EC9D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68F90-4F4E-4A45-9DB7-8E580B6C92F7}" type="datetimeFigureOut">
              <a:rPr lang="en-ZA" smtClean="0"/>
              <a:t>19/01/2021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65FF2D-9A95-432A-BEF5-FB483B775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EC36DD-D530-4200-86D5-44C5F980B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AA07E-DE05-40DA-971C-77D9E6EC55F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32301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C4265-B524-41AD-BA31-8B116F2EE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8E82BF-84D0-4820-A2EB-D98916811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68F90-4F4E-4A45-9DB7-8E580B6C92F7}" type="datetimeFigureOut">
              <a:rPr lang="en-ZA" smtClean="0"/>
              <a:t>19/01/2021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10ED78-D977-4517-8DD2-3ED35CFB3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E95AD1-D9CC-40E1-80D5-F8CDFF646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AA07E-DE05-40DA-971C-77D9E6EC55F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16735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C4CA2D-CAE9-44A9-A01E-E7FE35BB3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68F90-4F4E-4A45-9DB7-8E580B6C92F7}" type="datetimeFigureOut">
              <a:rPr lang="en-ZA" smtClean="0"/>
              <a:t>19/01/2021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3CAA10-044B-4899-9B3C-90D6BD3C1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2F4F4-46B6-4ECE-89DE-5B64E4081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AA07E-DE05-40DA-971C-77D9E6EC55F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64198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9EC46-5D20-452F-A2AA-0C1D7E148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535A7-731F-41F9-9D38-142F054CD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E32C53-52F3-4F54-A05C-783F41B72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E2D8E4-69B0-46B1-90C2-CF5ECE92B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68F90-4F4E-4A45-9DB7-8E580B6C92F7}" type="datetimeFigureOut">
              <a:rPr lang="en-ZA" smtClean="0"/>
              <a:t>19/01/2021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13E17-CAA5-4916-A97B-AEE3565CC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B8DE42-6329-4713-9059-DD0B02AF5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AA07E-DE05-40DA-971C-77D9E6EC55F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79869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0E9E2-AB32-4322-831C-654D068E7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2BBBC6-7A8C-41A1-AE20-90851592BF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4F5679-10AA-453C-B3D8-CF81EFE779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00EEA3-D5AC-4C68-AFB7-D00C4AB7D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68F90-4F4E-4A45-9DB7-8E580B6C92F7}" type="datetimeFigureOut">
              <a:rPr lang="en-ZA" smtClean="0"/>
              <a:t>19/01/2021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E3B320-69C9-445C-80EF-277787714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F9C4E-3A0A-4614-ADF2-3E63BE31B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AA07E-DE05-40DA-971C-77D9E6EC55F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17996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92385-132A-4770-A58C-C5028A966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E7CFC1-D820-476F-8BE8-E17F20A89A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075C4-E180-4A9C-8D14-F5854B9D3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68F90-4F4E-4A45-9DB7-8E580B6C92F7}" type="datetimeFigureOut">
              <a:rPr lang="en-ZA" smtClean="0"/>
              <a:t>19/01/2021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111A2-C195-4731-99E5-4E761B332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54473-8E4F-4623-9D42-AB36CB509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AA07E-DE05-40DA-971C-77D9E6EC55F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52059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BD046A-A66A-4B2B-B126-1F1344AF82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E739EC-685A-4F1B-83D1-23EEABE076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3EF48-53D6-4E12-A2E0-2EDC1004B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68F90-4F4E-4A45-9DB7-8E580B6C92F7}" type="datetimeFigureOut">
              <a:rPr lang="en-ZA" smtClean="0"/>
              <a:t>19/01/2021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B28D6-3901-436F-A753-B80BC6836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0D081-93AD-446F-A4D3-32948EA74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AA07E-DE05-40DA-971C-77D9E6EC55F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40527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B83896-F022-4A5C-9B39-B04B189AB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6C57C4-3500-4177-91A6-F50E5C907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4FC9C-1EF5-4C77-861C-0623DEEB2A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A68F90-4F4E-4A45-9DB7-8E580B6C92F7}" type="datetimeFigureOut">
              <a:rPr lang="en-ZA" smtClean="0"/>
              <a:t>19/01/2021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332AC-A2B1-4CD7-A916-85BCD0B0A8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CCE75-4D8A-449D-A40B-D0B7638E1A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3AA07E-DE05-40DA-971C-77D9E6EC55F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88396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1904.03817.pdf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95742-0253-4E2E-AE11-C0D6C00D3F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Solution Uplift Measurement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282074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79087-BEEC-4056-A2D7-4E933CAAD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Estimator Variance Reduction in Random Experiments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FCD68-E831-4B1D-8796-D1B663276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Is customer </a:t>
            </a:r>
            <a:r>
              <a:rPr lang="en-US" dirty="0">
                <a:solidFill>
                  <a:srgbClr val="FF0000"/>
                </a:solidFill>
              </a:rPr>
              <a:t>matching</a:t>
            </a:r>
            <a:r>
              <a:rPr lang="en-US" dirty="0"/>
              <a:t> a good idea for this?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Stratified sampling (</a:t>
            </a:r>
            <a:r>
              <a:rPr lang="en-US" dirty="0" err="1"/>
              <a:t>NetFlix</a:t>
            </a:r>
            <a:r>
              <a:rPr lang="en-US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Inverse Probability Weighting by Propensity Score</a:t>
            </a:r>
            <a:endParaRPr lang="en-ZA" dirty="0"/>
          </a:p>
          <a:p>
            <a:pPr marL="514350" indent="-514350">
              <a:buFont typeface="+mj-lt"/>
              <a:buAutoNum type="arabicPeriod"/>
            </a:pPr>
            <a:r>
              <a:rPr lang="en-ZA" dirty="0"/>
              <a:t>CUPED (Microsoft)</a:t>
            </a:r>
          </a:p>
          <a:p>
            <a:pPr marL="514350" indent="-514350">
              <a:buFont typeface="+mj-lt"/>
              <a:buAutoNum type="arabicPeriod"/>
            </a:pPr>
            <a:r>
              <a:rPr lang="en-ZA" dirty="0"/>
              <a:t>Weight by customer variance estimate (</a:t>
            </a:r>
            <a:r>
              <a:rPr lang="en-ZA" dirty="0" err="1"/>
              <a:t>FaceBook</a:t>
            </a:r>
            <a:r>
              <a:rPr lang="en-ZA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ZA" dirty="0"/>
              <a:t>Include customer features in regression uplift model (TripAdvisor)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CUPAC (Control Using Predictions As Covariates) (</a:t>
            </a:r>
            <a:r>
              <a:rPr lang="en-US" dirty="0" err="1"/>
              <a:t>DoorDash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91523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3A150-D15C-48D1-BB7E-3B7B89ABE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Uplift Models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810B9-4BBA-4246-A240-853179496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Separately for each solution: </a:t>
            </a:r>
            <a:r>
              <a:rPr lang="en-US" i="1" dirty="0"/>
              <a:t>uplift = change in mean response between test (target) and holdout (control). </a:t>
            </a:r>
            <a:r>
              <a:rPr lang="en-US" dirty="0"/>
              <a:t>Groups could be matched or unmatched. Note that this is a specific case of model 2 (below), with only features the intercept and a single binary treatment indicator (see appendix I for more info.).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Simultaneous estimation of solution effects (all solutions in 1 model) using linear model (could include customer features in model to reduce noise due to mismatched customers). Test/holdout groups can be matched or unmatched. This is a natural extension of model 1 (above). </a:t>
            </a:r>
          </a:p>
        </p:txBody>
      </p:sp>
    </p:spTree>
    <p:extLst>
      <p:ext uri="{BB962C8B-B14F-4D97-AF65-F5344CB8AC3E}">
        <p14:creationId xmlns:p14="http://schemas.microsoft.com/office/powerpoint/2010/main" val="2459579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E738F-7E6D-42EA-B9D0-F174EE128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Uplift Model: Simultaneous estimation of solution effects</a:t>
            </a:r>
            <a:endParaRPr lang="en-ZA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9FC0ED-40FF-4692-BBE5-E5C9461DEC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𝑠𝑜𝑙𝑢𝑡𝑖𝑜𝑛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𝑠𝑜𝑙𝑢𝑡𝑖𝑜𝑛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ZA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9FC0ED-40FF-4692-BBE5-E5C9461DEC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e 3">
            <a:extLst>
              <a:ext uri="{FF2B5EF4-FFF2-40B4-BE49-F238E27FC236}">
                <a16:creationId xmlns:a16="http://schemas.microsoft.com/office/drawing/2014/main" id="{25D20956-03DA-4BD2-93EF-066205A35B92}"/>
              </a:ext>
            </a:extLst>
          </p:cNvPr>
          <p:cNvSpPr/>
          <p:nvPr/>
        </p:nvSpPr>
        <p:spPr>
          <a:xfrm rot="5400000">
            <a:off x="5165479" y="117325"/>
            <a:ext cx="312127" cy="474345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16624E-649A-448A-BCA8-55B48EEAD432}"/>
              </a:ext>
            </a:extLst>
          </p:cNvPr>
          <p:cNvSpPr txBox="1"/>
          <p:nvPr/>
        </p:nvSpPr>
        <p:spPr>
          <a:xfrm>
            <a:off x="4539029" y="2595385"/>
            <a:ext cx="1646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solution effects</a:t>
            </a:r>
            <a:endParaRPr lang="en-ZA" dirty="0">
              <a:solidFill>
                <a:schemeClr val="accent1"/>
              </a:solidFill>
            </a:endParaRP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7F07DDA3-0F09-4551-B442-C64D95DE13BB}"/>
              </a:ext>
            </a:extLst>
          </p:cNvPr>
          <p:cNvSpPr/>
          <p:nvPr/>
        </p:nvSpPr>
        <p:spPr>
          <a:xfrm rot="5400000">
            <a:off x="9196754" y="1193686"/>
            <a:ext cx="312127" cy="2589334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ZA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84EBC9-0B3E-4D24-984F-882A7CE4C408}"/>
              </a:ext>
            </a:extLst>
          </p:cNvPr>
          <p:cNvSpPr txBox="1"/>
          <p:nvPr/>
        </p:nvSpPr>
        <p:spPr>
          <a:xfrm>
            <a:off x="8154865" y="2594688"/>
            <a:ext cx="2659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customer feature effects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013EF7-D917-4C96-B174-7D06BFE29E58}"/>
              </a:ext>
            </a:extLst>
          </p:cNvPr>
          <p:cNvSpPr txBox="1"/>
          <p:nvPr/>
        </p:nvSpPr>
        <p:spPr>
          <a:xfrm>
            <a:off x="1127613" y="3798331"/>
            <a:ext cx="97836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Inclusion of </a:t>
            </a:r>
            <a:r>
              <a:rPr lang="en-US" dirty="0">
                <a:solidFill>
                  <a:srgbClr val="FF0000"/>
                </a:solidFill>
              </a:rPr>
              <a:t>customer feature effects </a:t>
            </a:r>
            <a:r>
              <a:rPr lang="en-US" dirty="0"/>
              <a:t>accounts for any imbalances between the groups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903648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508B-D8A7-48AE-8B30-80AC0DB81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ZA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6FB5EF0B-F498-49B8-A3E3-EAE584E721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4406563"/>
              </p:ext>
            </p:extLst>
          </p:nvPr>
        </p:nvGraphicFramePr>
        <p:xfrm>
          <a:off x="838200" y="1447556"/>
          <a:ext cx="10515600" cy="541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74652524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429277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Title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URL</a:t>
                      </a:r>
                      <a:endParaRPr lang="en-Z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363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Unbiased variance reduction in randomized experiments</a:t>
                      </a:r>
                      <a:endParaRPr lang="en-Z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200" dirty="0">
                          <a:hlinkClick r:id="rId2"/>
                        </a:rPr>
                        <a:t>1904.03817.pdf (arxiv.org)</a:t>
                      </a:r>
                      <a:endParaRPr lang="en-Z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6405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Variance reduction in </a:t>
                      </a:r>
                      <a:r>
                        <a:rPr lang="en-US" sz="1200" dirty="0" err="1"/>
                        <a:t>randomised</a:t>
                      </a:r>
                      <a:r>
                        <a:rPr lang="en-US" sz="1200" dirty="0"/>
                        <a:t> trials by inverse probability weighting using the propensity score</a:t>
                      </a:r>
                      <a:endParaRPr lang="en-Z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200" dirty="0"/>
                        <a:t>https://onlinelibrary.wiley.com/doi/full/10.1002/sim.5991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156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MATCHIT: Nonparametric Preprocessing for Parametric Causal Inference</a:t>
                      </a:r>
                      <a:endParaRPr lang="en-Z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200"/>
                        <a:t>https://r.iq.harvard.edu/docs/matchit/2.4-20/</a:t>
                      </a:r>
                      <a:endParaRPr lang="en-Z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5701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FaceBook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Increasing the sensitivity of A/B tests by utilizing the variance estimates of experimental units</a:t>
                      </a:r>
                    </a:p>
                    <a:p>
                      <a:endParaRPr lang="en-Z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200" dirty="0"/>
                        <a:t>https://research.fb.com/blog/2020/10/increasing-the-sensitivity-of-a-b-tests-by-utilizing-the-variance-estimates-of-experimental-units/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1532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Reducing A/B test measurement variance by 30%+</a:t>
                      </a:r>
                      <a:endParaRPr lang="en-Z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200" dirty="0"/>
                        <a:t>https://www.tripadvisor.com/engineering/reducing-a-b-test-measurement-variance-by-30/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2782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Genetic Matching for Estimating Causal Effects: A General Multivariate Matching Method for Achieving Balance in Observational Studies</a:t>
                      </a:r>
                      <a:endParaRPr lang="en-Z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200" dirty="0"/>
                        <a:t>http://sekhon.berkeley.edu/papers/GenMatch.pdf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5530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Reducing the Variance of A/B Tests Using Prior Information</a:t>
                      </a:r>
                      <a:endParaRPr lang="en-Z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200" dirty="0"/>
                        <a:t>http://www.degeneratestate.org/posts/2018/Jan/04/reducing-the-variance-of-ab-test-using-prior-information/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5153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Having issues with under-powered A/B tests? Try controlling your variability</a:t>
                      </a:r>
                      <a:endParaRPr lang="en-Z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https://towardsdatascience.com/having-issues-with-under-powered-a-b-tests-try-controlling-your-variability-903748f0aefd</a:t>
                      </a:r>
                      <a:endParaRPr lang="en-ZA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06336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Modern Algorithms for Matching in Observational Studies</a:t>
                      </a:r>
                      <a:endParaRPr lang="en-Z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200" dirty="0"/>
                        <a:t>https://www.annualreviews.org/doi/pdf/10.1146/annurev-statistics-031219-041058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8492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Improving Experimental Power through Control Using Predictions as Covariate (CUPAC)</a:t>
                      </a:r>
                      <a:endParaRPr lang="en-Z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200" dirty="0"/>
                        <a:t>https://doordash.engineering/2020/06/08/improving-experimental-power-through-control-using-predictions-as-covariate-cupac/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7884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Improving the Sensitivity of Online Controlled Experiments by Utilizing Pre-Experiment Data (CUPED)</a:t>
                      </a:r>
                      <a:endParaRPr lang="en-ZA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200" dirty="0"/>
                        <a:t>https://exp-platform.com/Documents/2013-02-CUPED-ImprovingSensitivityOfControlledExperiments.pdf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13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3485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0C9A6-AE35-4CD2-8E9F-3FBF65BBD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 I</a:t>
            </a:r>
            <a:endParaRPr lang="en-Z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3E7AF3-5AAF-4CB3-9C72-BECC1AB4E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588" y="1812202"/>
            <a:ext cx="6065058" cy="4187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372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1394</TotalTime>
  <Words>490</Words>
  <Application>Microsoft Office PowerPoint</Application>
  <PresentationFormat>Widescreen</PresentationFormat>
  <Paragraphs>43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Office Theme</vt:lpstr>
      <vt:lpstr>Solution Uplift Measurement</vt:lpstr>
      <vt:lpstr>Estimator Variance Reduction in Random Experiments</vt:lpstr>
      <vt:lpstr>Potential Uplift Models</vt:lpstr>
      <vt:lpstr>Uplift Model: Simultaneous estimation of solution effects</vt:lpstr>
      <vt:lpstr>References</vt:lpstr>
      <vt:lpstr>Appendix 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Solution Uplift Measurement</dc:title>
  <dc:creator>Joseph Bolton</dc:creator>
  <cp:lastModifiedBy>Joseph Bolton</cp:lastModifiedBy>
  <cp:revision>18</cp:revision>
  <dcterms:created xsi:type="dcterms:W3CDTF">2021-01-19T13:46:36Z</dcterms:created>
  <dcterms:modified xsi:type="dcterms:W3CDTF">2021-01-20T13:00:42Z</dcterms:modified>
</cp:coreProperties>
</file>